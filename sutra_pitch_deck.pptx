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02920"/>
            <a:ext cx="320040" cy="320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Plus Jakarta Sans"/>
              </a:rPr>
              <a:t>TEAM OFFGRID  /  DEFENSE &amp; DISASTER ROBOTICS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30352"/>
            <a:ext cx="16459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62179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58521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475569"/>
                </a:solidFill>
                <a:latin typeface="Plus Jakarta Sans"/>
              </a:rPr>
              <a:t>AUTONOMOUS SWARM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5669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JetBrains Mono"/>
              </a:rPr>
              <a:t>AUG 2026 • REV 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i="1">
                <a:solidFill>
                  <a:srgbClr val="000000"/>
                </a:solidFill>
                <a:latin typeface="Georgia"/>
              </a:rPr>
              <a:t>“When GPS fails and RF links jam, SUTRA geonavigates and locates survivors in real-time.”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1874519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1874519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3429000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88152" y="3127248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1874519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000000"/>
                </a:solidFill>
                <a:latin typeface="Plus Jakarta Sans"/>
              </a:rPr>
              <a:t>PROJECT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5603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0" i="1">
                <a:solidFill>
                  <a:srgbClr val="475569"/>
                </a:solidFill>
                <a:latin typeface="Plus Jakarta Sans"/>
              </a:rPr>
              <a:t>SUTRA.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364992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Inter"/>
              </a:rPr>
              <a:t>Swarm Unified Tactical Reconnaissance Architecture — decentralized multi-UAV flight, Deep JSCC neural zero-cliff video, and 3.59cm terrain-corrected DEM survivor geolocation.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7744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" y="4023360"/>
            <a:ext cx="1188720" cy="1828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DECENTRALIZED GNC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50Hz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Offboard Rate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124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PX4 MicroXRCE + VIO EKF2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38328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93008" y="4023360"/>
            <a:ext cx="1188720" cy="18288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9300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SEMANTIC WIRELESS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9300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-5dB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8056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Jam Resilience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Deep JSCC Zero-Cliff Video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3504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44768" y="4023360"/>
            <a:ext cx="1188720" cy="18288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4476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TERRAIN GEOLOCATION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3.59cm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Geo-Accuracy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4476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WGS84 3D DEM Raycasting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5166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525780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Plus Jakarta Sans"/>
              </a:rPr>
              <a:t>CORE ARCHITECTURE TEAM (OFFGRID)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0" y="5257800"/>
            <a:ext cx="460217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475569"/>
                </a:solidFill>
                <a:latin typeface="Plus Jakarta Sans"/>
              </a:rPr>
              <a:t>RESEARCH-BACKED &amp; EMPIRICALLY VALIDATED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1520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Nikhil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Tech Lead · Subsys A &amp; B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41248" y="6080760"/>
            <a:ext cx="1097280" cy="20116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Plus Jakarta Sans"/>
              </a:rPr>
              <a:t>GNC &amp; JSCC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907792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17520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Vedanth Sai Ram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C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017520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17520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AI PERCEPTION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84064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193792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Siva Kesava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93792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193792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193792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3D GIS GCS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60336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70064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Harika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70064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370064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70064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VERIFICATION QA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436608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546336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Rohith Kumar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46336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F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546336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546336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NDMA CONOPS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66928"/>
            <a:ext cx="91440" cy="329184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594360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0A1628"/>
                </a:solidFill>
                <a:latin typeface="JetBrains Mono"/>
              </a:rPr>
              <a:t>THE PROBLEM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778240" y="548640"/>
            <a:ext cx="2651760" cy="32918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961120" y="658368"/>
            <a:ext cx="91440" cy="9144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98280" y="603504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 i="0">
                <a:solidFill>
                  <a:srgbClr val="475569"/>
                </a:solidFill>
                <a:latin typeface="JetBrains Mono"/>
              </a:rPr>
              <a:t>RESCUE DRONE FAILURE MODES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118872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 i="0">
                <a:solidFill>
                  <a:srgbClr val="000000"/>
                </a:solidFill>
                <a:latin typeface="Plus Jakarta Sans"/>
              </a:rPr>
              <a:t>GPS Loss and Radio Blackouts Cripple Disaster Rescue</a:t>
            </a:r>
          </a:p>
        </p:txBody>
      </p:sp>
      <p:sp>
        <p:nvSpPr>
          <p:cNvPr id="48" name="Oval 47"/>
          <p:cNvSpPr/>
          <p:nvPr/>
        </p:nvSpPr>
        <p:spPr>
          <a:xfrm>
            <a:off x="749808" y="2432304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2377440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Mountain valleys cut drone video feeds</a:t>
            </a:r>
          </a:p>
        </p:txBody>
      </p:sp>
      <p:sp>
        <p:nvSpPr>
          <p:cNvPr id="50" name="Oval 49"/>
          <p:cNvSpPr/>
          <p:nvPr/>
        </p:nvSpPr>
        <p:spPr>
          <a:xfrm>
            <a:off x="749808" y="2871216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2688" y="2816352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Dense trees block satellite GPS signals</a:t>
            </a:r>
          </a:p>
        </p:txBody>
      </p:sp>
      <p:sp>
        <p:nvSpPr>
          <p:cNvPr id="52" name="Oval 51"/>
          <p:cNvSpPr/>
          <p:nvPr/>
        </p:nvSpPr>
        <p:spPr>
          <a:xfrm>
            <a:off x="749808" y="3310128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2688" y="3255264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Single control towers cause mission failure</a:t>
            </a:r>
          </a:p>
        </p:txBody>
      </p:sp>
      <p:sp>
        <p:nvSpPr>
          <p:cNvPr id="54" name="Oval 53"/>
          <p:cNvSpPr/>
          <p:nvPr/>
        </p:nvSpPr>
        <p:spPr>
          <a:xfrm>
            <a:off x="749808" y="3749040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2688" y="3694176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Manual searching delays finding trapped victims</a:t>
            </a:r>
          </a:p>
        </p:txBody>
      </p:sp>
      <p:sp>
        <p:nvSpPr>
          <p:cNvPr id="56" name="Oval 55"/>
          <p:cNvSpPr/>
          <p:nvPr/>
        </p:nvSpPr>
        <p:spPr>
          <a:xfrm>
            <a:off x="749808" y="4187952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2688" y="4133088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Military drones cost over $50,000 each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4617720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94A3B8"/>
                </a:solidFill>
                <a:latin typeface="JetBrains Mono"/>
              </a:rPr>
              <a:t>TACTICAL FAILURE SCHEMATICS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1520" y="4828032"/>
            <a:ext cx="2011680" cy="9326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rf_mountain_shad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4864608"/>
            <a:ext cx="1901952" cy="50292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804672" y="5413248"/>
            <a:ext cx="186537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Plus Jakarta Sans"/>
              </a:rPr>
              <a:t>RF Ridge Shadow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" y="5577840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Video Stream Severance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907792" y="4828032"/>
            <a:ext cx="2011680" cy="9326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gps_canopy_shad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656" y="4864608"/>
            <a:ext cx="1901952" cy="50292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980944" y="5413248"/>
            <a:ext cx="186537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Plus Jakarta Sans"/>
              </a:rPr>
              <a:t>Canopy Shadow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80944" y="5577840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GNSS Multi-Path Drift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084064" y="4828032"/>
            <a:ext cx="2011680" cy="9326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single_link_los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8928" y="4864608"/>
            <a:ext cx="1901952" cy="50292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157216" y="5413248"/>
            <a:ext cx="186537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Plus Jakarta Sans"/>
              </a:rPr>
              <a:t>Central Link Loss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57216" y="5577840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Single Point Abort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15200" y="1234440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94A3B8"/>
                </a:solidFill>
                <a:latin typeface="JetBrains Mono"/>
              </a:rPr>
              <a:t>REAL DISASTER FIELD EVIDENCE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75520" y="1234440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64748B"/>
                </a:solidFill>
                <a:latin typeface="JetBrains Mono"/>
              </a:rPr>
              <a:t>SOURCE 01 / 03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498079" y="1783080"/>
            <a:ext cx="3931920" cy="3474720"/>
          </a:xfrm>
          <a:prstGeom prst="roundRect">
            <a:avLst/>
          </a:prstGeom>
          <a:solidFill>
            <a:srgbClr val="3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406640" y="1691640"/>
            <a:ext cx="4023360" cy="356616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315200" y="1600200"/>
            <a:ext cx="4114800" cy="365760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wayanad_rescu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1600200"/>
            <a:ext cx="4114800" cy="3657600"/>
          </a:xfrm>
          <a:prstGeom prst="rect">
            <a:avLst/>
          </a:prstGeom>
        </p:spPr>
      </p:pic>
      <p:sp>
        <p:nvSpPr>
          <p:cNvPr id="77" name="Rectangle 76"/>
          <p:cNvSpPr/>
          <p:nvPr/>
        </p:nvSpPr>
        <p:spPr>
          <a:xfrm>
            <a:off x="7315200" y="3291840"/>
            <a:ext cx="4114800" cy="196596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543800" y="1783080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9692640" y="1783080"/>
            <a:ext cx="1554480" cy="256032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692640" y="1810512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JetBrains Mono"/>
              </a:rPr>
              <a:t>GOVT DISASTER AUDIT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543800" y="347472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Plus Jakarta Sans"/>
              </a:rPr>
              <a:t>Wayanad Landslide Search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43800" y="38862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JetBrains Mono"/>
              </a:rPr>
              <a:t>Western Ghats • NDMA Official Disaster Review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543800" y="420624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34D399"/>
                </a:solidFill>
                <a:latin typeface="JetBrains Mono"/>
              </a:rPr>
              <a:t>FIELD BOTTLENECK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543800" y="4434840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E2E8F0"/>
                </a:solidFill>
                <a:latin typeface="Inter"/>
              </a:rPr>
              <a:t>“70% of commercial drones lost connection behind mountain ridges and crashed under thick tree canopy.”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0" y="5440680"/>
            <a:ext cx="548640" cy="7315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7955279" y="5440680"/>
            <a:ext cx="109728" cy="7315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8138160" y="5440680"/>
            <a:ext cx="109728" cy="7315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144000" y="5376672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0" i="0">
                <a:solidFill>
                  <a:srgbClr val="94A3B8"/>
                </a:solidFill>
                <a:latin typeface="JetBrains Mono"/>
              </a:rPr>
              <a:t>CONTINUOUS LOOP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59436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31520" y="60807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58000" y="608076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Pitch Deck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