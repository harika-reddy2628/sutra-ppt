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377440" cy="320040"/>
          </a:xfrm>
          <a:prstGeom prst="roundRect">
            <a:avLst/>
          </a:prstGeom>
          <a:solidFill>
            <a:srgbClr val="F7ECE9"/>
          </a:solidFill>
          <a:ln w="10160">
            <a:solidFill>
              <a:srgbClr val="9E4D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9E4D34"/>
                </a:solidFill>
                <a:latin typeface="JetBrains Mono"/>
              </a:rPr>
              <a:t>DEFENSE &amp; DISASTER ROBOTICS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457200"/>
            <a:ext cx="2194560" cy="320040"/>
          </a:xfrm>
          <a:prstGeom prst="roundRect">
            <a:avLst/>
          </a:prstGeom>
          <a:solidFill>
            <a:srgbClr val="EAF2EE"/>
          </a:solidFill>
          <a:ln w="10160">
            <a:solidFill>
              <a:srgbClr val="4A7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530352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183A2B"/>
                </a:solidFill>
                <a:latin typeface="JetBrains Mono"/>
              </a:rPr>
              <a:t>● SWARM STATE: 5/5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53035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4A5B53"/>
                </a:solidFill>
                <a:latin typeface="JetBrains Mono"/>
              </a:rPr>
              <a:t>SECTOR: KEDARNATH VALLEY (30.73° N, 79.06° 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960120"/>
            <a:ext cx="10728655" cy="13716"/>
          </a:xfrm>
          <a:prstGeom prst="rect">
            <a:avLst/>
          </a:prstGeom>
          <a:solidFill>
            <a:srgbClr val="ED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548640" cy="27432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57276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9E4D34"/>
                </a:solidFill>
                <a:latin typeface="JetBrains Mono"/>
              </a:rPr>
              <a:t>AUTONOMOUS MULTI-AGENT SWARM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0" b="1" i="0">
                <a:solidFill>
                  <a:srgbClr val="183A2B"/>
                </a:solidFill>
                <a:latin typeface="Plus Jakarta Sans"/>
              </a:rPr>
              <a:t>PROJECT SUTRA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1">
                <a:solidFill>
                  <a:srgbClr val="4A7A58"/>
                </a:solidFill>
                <a:latin typeface="Plus Jakarta Sans"/>
              </a:rPr>
              <a:t>Swarm Unified Tactical Reconnaissance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4A5B53"/>
                </a:solidFill>
                <a:latin typeface="Plus Jakarta Sans"/>
              </a:rPr>
              <a:t>A decentralized, fault-tolerant multi-UAV swarm engineered from first principles for GPS-denied deep mountain valleys, -5 dB RF jamming resilience, and sub-meter survivor geolocation under dense forest canopies.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3484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99432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83A2B"/>
                </a:solidFill>
                <a:latin typeface="JetBrains Mono"/>
              </a:rPr>
              <a:t>01. AUTOPILOT &amp; GNC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3776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B53"/>
                </a:solidFill>
                <a:latin typeface="Plus Jakarta Sans"/>
              </a:rPr>
              <a:t>PX4 50Hz Offboard, 3D Voxel Cost-Volume &amp; ORCA 3D Collision Shield.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5576" y="443484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8456" y="4599432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E4D34"/>
                </a:solidFill>
                <a:latin typeface="JetBrains Mono"/>
              </a:rPr>
              <a:t>02. NEURAL COMMS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493776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B53"/>
                </a:solidFill>
                <a:latin typeface="Plus Jakarta Sans"/>
              </a:rPr>
              <a:t>Deep JSCC Autoencoder with 96.9% compression &amp; -5 dB jamming survival.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443484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599432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A7A58"/>
                </a:solidFill>
                <a:latin typeface="JetBrains Mono"/>
              </a:rPr>
              <a:t>03. AI PERCEPTION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93776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B53"/>
                </a:solidFill>
                <a:latin typeface="Plus Jakarta Sans"/>
              </a:rPr>
              <a:t>Tri-Modal RGB/FLIR/mmWave with 3.59cm terrain-corrected DEM raycasting.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3688" y="443484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4599432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2B6CB0"/>
                </a:solidFill>
                <a:latin typeface="JetBrains Mono"/>
              </a:rPr>
              <a:t>04. TACTICAL GCS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493776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B53"/>
                </a:solidFill>
                <a:latin typeface="Plus Jakarta Sans"/>
              </a:rPr>
              <a:t>Pegasus 3D GIS with 60 FPS WebGPU pipeline &amp; MIL-STD-2525 ATAK CoT XML.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080760"/>
            <a:ext cx="10728655" cy="13716"/>
          </a:xfrm>
          <a:prstGeom prst="rect">
            <a:avLst/>
          </a:prstGeom>
          <a:solidFill>
            <a:srgbClr val="ED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245352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4A5B53"/>
                </a:solidFill>
                <a:latin typeface="JetBrains Mono"/>
              </a:rPr>
              <a:t>Nikhil (Tech Lead) • Vedanth Sai Ram • Siva Kesava • Harika • Rohith Kumar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6245352"/>
            <a:ext cx="41449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183A2B"/>
                </a:solidFill>
                <a:latin typeface="JetBrains Mono"/>
              </a:rPr>
              <a:t>● NDMA / DARPA-TIER OPEN ARCHITECTURE · GRAND FINALS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Master Defense &amp; Disaster Robotics Pitch Deck</dc:title>
  <dc:subject/>
  <dc:creator>Nikhil &amp; SUTRA Core Architecture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