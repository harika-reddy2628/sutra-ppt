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jpg"/><Relationship Id="rId4" Type="http://schemas.openxmlformats.org/officeDocument/2006/relationships/image" Target="../media/image3.png"/><Relationship Id="rId5" Type="http://schemas.openxmlformats.org/officeDocument/2006/relationships/image" Target="../media/image4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0"/>
            <a:ext cx="7315" cy="6858000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14400" y="0"/>
            <a:ext cx="7315" cy="6858000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371600" y="0"/>
            <a:ext cx="7315" cy="6858000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828800" y="0"/>
            <a:ext cx="7315" cy="6858000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286000" y="0"/>
            <a:ext cx="7315" cy="6858000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0" y="0"/>
            <a:ext cx="7315" cy="6858000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200400" y="0"/>
            <a:ext cx="7315" cy="6858000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657600" y="0"/>
            <a:ext cx="7315" cy="6858000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114800" y="0"/>
            <a:ext cx="7315" cy="6858000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0" y="0"/>
            <a:ext cx="7315" cy="6858000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029200" y="0"/>
            <a:ext cx="7315" cy="6858000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486400" y="0"/>
            <a:ext cx="7315" cy="6858000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943600" y="0"/>
            <a:ext cx="7315" cy="6858000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0" y="0"/>
            <a:ext cx="7315" cy="6858000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858000" y="0"/>
            <a:ext cx="7315" cy="6858000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315200" y="0"/>
            <a:ext cx="7315" cy="6858000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772400" y="0"/>
            <a:ext cx="7315" cy="6858000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229600" y="0"/>
            <a:ext cx="7315" cy="6858000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686800" y="0"/>
            <a:ext cx="7315" cy="6858000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144000" y="0"/>
            <a:ext cx="7315" cy="6858000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9601200" y="0"/>
            <a:ext cx="7315" cy="6858000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0058400" y="0"/>
            <a:ext cx="7315" cy="6858000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10515600" y="0"/>
            <a:ext cx="7315" cy="6858000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0972800" y="0"/>
            <a:ext cx="7315" cy="6858000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1430000" y="0"/>
            <a:ext cx="7315" cy="6858000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0" y="457200"/>
            <a:ext cx="12191695" cy="7315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0" y="914400"/>
            <a:ext cx="12191695" cy="7315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0" y="1371600"/>
            <a:ext cx="12191695" cy="7315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0" y="1828800"/>
            <a:ext cx="12191695" cy="7315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0" y="2286000"/>
            <a:ext cx="12191695" cy="7315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0" y="2743200"/>
            <a:ext cx="12191695" cy="7315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0" y="3200400"/>
            <a:ext cx="12191695" cy="7315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0" y="3657600"/>
            <a:ext cx="12191695" cy="7315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0" y="4114800"/>
            <a:ext cx="12191695" cy="7315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0" y="4572000"/>
            <a:ext cx="12191695" cy="7315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0" y="5029200"/>
            <a:ext cx="12191695" cy="7315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0" y="5486400"/>
            <a:ext cx="12191695" cy="7315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0" y="5943600"/>
            <a:ext cx="12191695" cy="7315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0" y="6400800"/>
            <a:ext cx="12191695" cy="7315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731520" y="502920"/>
            <a:ext cx="320040" cy="320040"/>
          </a:xfrm>
          <a:prstGeom prst="roundRect">
            <a:avLst/>
          </a:prstGeom>
          <a:solidFill>
            <a:srgbClr val="0909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143000" y="566928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50" b="1" i="0">
                <a:solidFill>
                  <a:srgbClr val="09090B"/>
                </a:solidFill>
                <a:latin typeface="Space Grotesk"/>
              </a:rPr>
              <a:t>TEAM OFFGRID  /  DEFENSE &amp; DISASTER ROBOTICS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8961120" y="530352"/>
            <a:ext cx="1645920" cy="2743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4E4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9098280" y="621792"/>
            <a:ext cx="73152" cy="73152"/>
          </a:xfrm>
          <a:prstGeom prst="ellipse">
            <a:avLst/>
          </a:prstGeom>
          <a:solidFill>
            <a:srgbClr val="0478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9235440" y="585216"/>
            <a:ext cx="137160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750" b="1" i="0">
                <a:solidFill>
                  <a:srgbClr val="475569"/>
                </a:solidFill>
                <a:latin typeface="Space Grotesk"/>
              </a:rPr>
              <a:t>AUTONOMOUS SWARM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698480" y="566928"/>
            <a:ext cx="13716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850" b="0" i="0">
                <a:solidFill>
                  <a:srgbClr val="64748B"/>
                </a:solidFill>
                <a:latin typeface="JetBrains Mono"/>
              </a:rPr>
              <a:t>AUG 2026 • REV 1.0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31520" y="1417320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800" b="0" i="1">
                <a:solidFill>
                  <a:srgbClr val="09090B"/>
                </a:solidFill>
                <a:latin typeface="Georgia"/>
              </a:rPr>
              <a:t>“When GPS fails and RF links jam, SUTRA geonavigates and locates survivors in real-time.”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48640" y="1874519"/>
            <a:ext cx="320040" cy="18288"/>
          </a:xfrm>
          <a:prstGeom prst="rect">
            <a:avLst/>
          </a:prstGeom>
          <a:solidFill>
            <a:srgbClr val="0909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548640" y="1874519"/>
            <a:ext cx="18288" cy="320040"/>
          </a:xfrm>
          <a:prstGeom prst="rect">
            <a:avLst/>
          </a:prstGeom>
          <a:solidFill>
            <a:srgbClr val="0909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5486400" y="3429000"/>
            <a:ext cx="320040" cy="18288"/>
          </a:xfrm>
          <a:prstGeom prst="rect">
            <a:avLst/>
          </a:prstGeom>
          <a:solidFill>
            <a:srgbClr val="0909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5788152" y="3127248"/>
            <a:ext cx="18288" cy="320040"/>
          </a:xfrm>
          <a:prstGeom prst="rect">
            <a:avLst/>
          </a:prstGeom>
          <a:solidFill>
            <a:srgbClr val="0909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731520" y="1874519"/>
            <a:ext cx="731520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5200" b="1" i="0">
                <a:solidFill>
                  <a:srgbClr val="09090B"/>
                </a:solidFill>
                <a:latin typeface="Space Grotesk"/>
              </a:rPr>
              <a:t>PROJECT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31520" y="2560320"/>
            <a:ext cx="731520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5200" b="0" i="1">
                <a:solidFill>
                  <a:srgbClr val="475569"/>
                </a:solidFill>
                <a:latin typeface="Space Grotesk"/>
              </a:rPr>
              <a:t>SUTRA.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31520" y="3364992"/>
            <a:ext cx="9144000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0" i="0">
                <a:solidFill>
                  <a:srgbClr val="475569"/>
                </a:solidFill>
                <a:latin typeface="Inter"/>
              </a:rPr>
              <a:t>Swarm Unified Tactical Reconnaissance Architecture — decentralized multi-UAV flight, Deep JSCC neural zero-cliff video, and 3.59cm terrain-corrected DEM survivor geolocation.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731520" y="3931920"/>
            <a:ext cx="2468880" cy="10515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4E4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2377440" y="3886200"/>
            <a:ext cx="73152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2800" b="1" i="0">
                <a:solidFill>
                  <a:srgbClr val="F1F5F9"/>
                </a:solidFill>
                <a:latin typeface="JetBrains Mono"/>
              </a:rPr>
              <a:t>01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841248" y="4023360"/>
            <a:ext cx="1188720" cy="182880"/>
          </a:xfrm>
          <a:prstGeom prst="roundRect">
            <a:avLst/>
          </a:prstGeom>
          <a:solidFill>
            <a:srgbClr val="0909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841248" y="4041648"/>
            <a:ext cx="1188720" cy="1645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620" b="1" i="0">
                <a:solidFill>
                  <a:srgbClr val="FFFFFF"/>
                </a:solidFill>
                <a:latin typeface="Space Grotesk"/>
              </a:rPr>
              <a:t>DECENTRALIZED GNC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41248" y="4251960"/>
            <a:ext cx="128016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900" b="1" i="0">
                <a:solidFill>
                  <a:srgbClr val="09090B"/>
                </a:solidFill>
                <a:latin typeface="Space Grotesk"/>
              </a:rPr>
              <a:t>50Hz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828800" y="4315968"/>
            <a:ext cx="11887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00" b="1" i="0">
                <a:solidFill>
                  <a:srgbClr val="475569"/>
                </a:solidFill>
                <a:latin typeface="Space Grotesk"/>
              </a:rPr>
              <a:t>Offboard Rate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41248" y="4663440"/>
            <a:ext cx="224028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750" b="0" i="0">
                <a:solidFill>
                  <a:srgbClr val="64748B"/>
                </a:solidFill>
                <a:latin typeface="Inter"/>
              </a:rPr>
              <a:t>PX4 MicroXRCE + VIO EKF2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3383280" y="3931920"/>
            <a:ext cx="2468880" cy="10515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4E4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5029200" y="3886200"/>
            <a:ext cx="73152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2800" b="1" i="0">
                <a:solidFill>
                  <a:srgbClr val="F1F5F9"/>
                </a:solidFill>
                <a:latin typeface="JetBrains Mono"/>
              </a:rPr>
              <a:t>02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3493008" y="4023360"/>
            <a:ext cx="1188720" cy="182880"/>
          </a:xfrm>
          <a:prstGeom prst="round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3493008" y="4041648"/>
            <a:ext cx="1188720" cy="1645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620" b="1" i="0">
                <a:solidFill>
                  <a:srgbClr val="FFFFFF"/>
                </a:solidFill>
                <a:latin typeface="Space Grotesk"/>
              </a:rPr>
              <a:t>SEMANTIC WIRELESS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3493008" y="4251960"/>
            <a:ext cx="128016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900" b="1" i="0">
                <a:solidFill>
                  <a:srgbClr val="09090B"/>
                </a:solidFill>
                <a:latin typeface="Space Grotesk"/>
              </a:rPr>
              <a:t>-5dB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480560" y="4315968"/>
            <a:ext cx="11887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00" b="1" i="0">
                <a:solidFill>
                  <a:srgbClr val="475569"/>
                </a:solidFill>
                <a:latin typeface="Space Grotesk"/>
              </a:rPr>
              <a:t>Jam Resilience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3493008" y="4663440"/>
            <a:ext cx="224028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750" b="0" i="0">
                <a:solidFill>
                  <a:srgbClr val="64748B"/>
                </a:solidFill>
                <a:latin typeface="Inter"/>
              </a:rPr>
              <a:t>Deep JSCC Zero-Cliff Video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6035040" y="3931920"/>
            <a:ext cx="2468880" cy="10515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4E4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7680960" y="3886200"/>
            <a:ext cx="73152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2800" b="1" i="0">
                <a:solidFill>
                  <a:srgbClr val="F1F5F9"/>
                </a:solidFill>
                <a:latin typeface="JetBrains Mono"/>
              </a:rPr>
              <a:t>03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6144768" y="4023360"/>
            <a:ext cx="1188720" cy="182880"/>
          </a:xfrm>
          <a:prstGeom prst="roundRect">
            <a:avLst/>
          </a:prstGeom>
          <a:solidFill>
            <a:srgbClr val="0478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6144768" y="4041648"/>
            <a:ext cx="1188720" cy="1645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620" b="1" i="0">
                <a:solidFill>
                  <a:srgbClr val="FFFFFF"/>
                </a:solidFill>
                <a:latin typeface="Space Grotesk"/>
              </a:rPr>
              <a:t>TERRAIN GEOLOCATION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6144768" y="4251960"/>
            <a:ext cx="128016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900" b="1" i="0">
                <a:solidFill>
                  <a:srgbClr val="09090B"/>
                </a:solidFill>
                <a:latin typeface="Space Grotesk"/>
              </a:rPr>
              <a:t>3.59cm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7132320" y="4315968"/>
            <a:ext cx="11887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00" b="1" i="0">
                <a:solidFill>
                  <a:srgbClr val="475569"/>
                </a:solidFill>
                <a:latin typeface="Space Grotesk"/>
              </a:rPr>
              <a:t>Geo-Accuracy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6144768" y="4663440"/>
            <a:ext cx="224028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750" b="0" i="0">
                <a:solidFill>
                  <a:srgbClr val="64748B"/>
                </a:solidFill>
                <a:latin typeface="Inter"/>
              </a:rPr>
              <a:t>WGS84 3D DEM Raycasting</a:t>
            </a:r>
          </a:p>
        </p:txBody>
      </p:sp>
      <p:sp>
        <p:nvSpPr>
          <p:cNvPr id="77" name="Rectangle 76"/>
          <p:cNvSpPr/>
          <p:nvPr/>
        </p:nvSpPr>
        <p:spPr>
          <a:xfrm>
            <a:off x="731520" y="5166360"/>
            <a:ext cx="10728655" cy="13716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731520" y="5257800"/>
            <a:ext cx="548640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00" b="1" i="0">
                <a:solidFill>
                  <a:srgbClr val="94A3B8"/>
                </a:solidFill>
                <a:latin typeface="Space Grotesk"/>
              </a:rPr>
              <a:t>CORE ARCHITECTURE TEAM (OFFGRID)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6858000" y="5257800"/>
            <a:ext cx="4602175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800" b="1" i="0">
                <a:solidFill>
                  <a:srgbClr val="475569"/>
                </a:solidFill>
                <a:latin typeface="Space Grotesk"/>
              </a:rPr>
              <a:t>RESEARCH-BACKED &amp; EMPIRICALLY VALIDATED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731520" y="5486400"/>
            <a:ext cx="2011680" cy="10515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4E4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841248" y="5559552"/>
            <a:ext cx="1792224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50" b="1" i="0">
                <a:solidFill>
                  <a:srgbClr val="09090B"/>
                </a:solidFill>
                <a:latin typeface="Space Grotesk"/>
              </a:rPr>
              <a:t>Nikhil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841248" y="5779008"/>
            <a:ext cx="1792224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00" b="0" i="0">
                <a:solidFill>
                  <a:srgbClr val="475569"/>
                </a:solidFill>
                <a:latin typeface="Inter"/>
              </a:rPr>
              <a:t>Tech Lead · Subsys A &amp; B</a:t>
            </a:r>
          </a:p>
        </p:txBody>
      </p:sp>
      <p:sp>
        <p:nvSpPr>
          <p:cNvPr id="83" name="Rounded Rectangle 82"/>
          <p:cNvSpPr/>
          <p:nvPr/>
        </p:nvSpPr>
        <p:spPr>
          <a:xfrm>
            <a:off x="841248" y="6080760"/>
            <a:ext cx="1097280" cy="201168"/>
          </a:xfrm>
          <a:prstGeom prst="roundRect">
            <a:avLst/>
          </a:prstGeom>
          <a:solidFill>
            <a:srgbClr val="0909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841248" y="6099048"/>
            <a:ext cx="109728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680" b="1" i="0">
                <a:solidFill>
                  <a:srgbClr val="FFFFFF"/>
                </a:solidFill>
                <a:latin typeface="Space Grotesk"/>
              </a:rPr>
              <a:t>GNC &amp; COMMS</a:t>
            </a:r>
          </a:p>
        </p:txBody>
      </p:sp>
      <p:sp>
        <p:nvSpPr>
          <p:cNvPr id="85" name="Rounded Rectangle 84"/>
          <p:cNvSpPr/>
          <p:nvPr/>
        </p:nvSpPr>
        <p:spPr>
          <a:xfrm>
            <a:off x="2907792" y="5486400"/>
            <a:ext cx="2011680" cy="10515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4E4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3017520" y="5559552"/>
            <a:ext cx="1792224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50" b="1" i="0">
                <a:solidFill>
                  <a:srgbClr val="09090B"/>
                </a:solidFill>
                <a:latin typeface="Space Grotesk"/>
              </a:rPr>
              <a:t>Vedanth Sai Ram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3017520" y="5779008"/>
            <a:ext cx="1792224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00" b="0" i="0">
                <a:solidFill>
                  <a:srgbClr val="475569"/>
                </a:solidFill>
                <a:latin typeface="Inter"/>
              </a:rPr>
              <a:t>Lead · Subsystem C</a:t>
            </a:r>
          </a:p>
        </p:txBody>
      </p:sp>
      <p:sp>
        <p:nvSpPr>
          <p:cNvPr id="88" name="Rounded Rectangle 87"/>
          <p:cNvSpPr/>
          <p:nvPr/>
        </p:nvSpPr>
        <p:spPr>
          <a:xfrm>
            <a:off x="3017520" y="6080760"/>
            <a:ext cx="1097280" cy="201168"/>
          </a:xfrm>
          <a:prstGeom prst="round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3017520" y="6099048"/>
            <a:ext cx="109728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680" b="1" i="0">
                <a:solidFill>
                  <a:srgbClr val="0A1628"/>
                </a:solidFill>
                <a:latin typeface="Space Grotesk"/>
              </a:rPr>
              <a:t>AI PERCEPTION</a:t>
            </a:r>
          </a:p>
        </p:txBody>
      </p:sp>
      <p:sp>
        <p:nvSpPr>
          <p:cNvPr id="90" name="Rounded Rectangle 89"/>
          <p:cNvSpPr/>
          <p:nvPr/>
        </p:nvSpPr>
        <p:spPr>
          <a:xfrm>
            <a:off x="5084064" y="5486400"/>
            <a:ext cx="2011680" cy="10515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4E4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5193792" y="5559552"/>
            <a:ext cx="1792224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50" b="1" i="0">
                <a:solidFill>
                  <a:srgbClr val="09090B"/>
                </a:solidFill>
                <a:latin typeface="Space Grotesk"/>
              </a:rPr>
              <a:t>Siva Kesava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5193792" y="5779008"/>
            <a:ext cx="1792224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00" b="0" i="0">
                <a:solidFill>
                  <a:srgbClr val="475569"/>
                </a:solidFill>
                <a:latin typeface="Inter"/>
              </a:rPr>
              <a:t>Lead · Subsystem D</a:t>
            </a:r>
          </a:p>
        </p:txBody>
      </p:sp>
      <p:sp>
        <p:nvSpPr>
          <p:cNvPr id="93" name="Rounded Rectangle 92"/>
          <p:cNvSpPr/>
          <p:nvPr/>
        </p:nvSpPr>
        <p:spPr>
          <a:xfrm>
            <a:off x="5193792" y="6080760"/>
            <a:ext cx="1097280" cy="201168"/>
          </a:xfrm>
          <a:prstGeom prst="round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5193792" y="6099048"/>
            <a:ext cx="109728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680" b="1" i="0">
                <a:solidFill>
                  <a:srgbClr val="0A1628"/>
                </a:solidFill>
                <a:latin typeface="Space Grotesk"/>
              </a:rPr>
              <a:t>3D GIS GCS</a:t>
            </a:r>
          </a:p>
        </p:txBody>
      </p:sp>
      <p:sp>
        <p:nvSpPr>
          <p:cNvPr id="95" name="Rounded Rectangle 94"/>
          <p:cNvSpPr/>
          <p:nvPr/>
        </p:nvSpPr>
        <p:spPr>
          <a:xfrm>
            <a:off x="7260336" y="5486400"/>
            <a:ext cx="2011680" cy="10515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4E4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7370064" y="5559552"/>
            <a:ext cx="1792224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50" b="1" i="0">
                <a:solidFill>
                  <a:srgbClr val="09090B"/>
                </a:solidFill>
                <a:latin typeface="Space Grotesk"/>
              </a:rPr>
              <a:t>Harika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7370064" y="5779008"/>
            <a:ext cx="1792224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00" b="0" i="0">
                <a:solidFill>
                  <a:srgbClr val="475569"/>
                </a:solidFill>
                <a:latin typeface="Inter"/>
              </a:rPr>
              <a:t>Operations Lead · Subsys E</a:t>
            </a:r>
          </a:p>
        </p:txBody>
      </p:sp>
      <p:sp>
        <p:nvSpPr>
          <p:cNvPr id="98" name="Rounded Rectangle 97"/>
          <p:cNvSpPr/>
          <p:nvPr/>
        </p:nvSpPr>
        <p:spPr>
          <a:xfrm>
            <a:off x="7370064" y="6080760"/>
            <a:ext cx="1097280" cy="201168"/>
          </a:xfrm>
          <a:prstGeom prst="roundRect">
            <a:avLst/>
          </a:prstGeom>
          <a:solidFill>
            <a:srgbClr val="0909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7370064" y="6099048"/>
            <a:ext cx="109728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680" b="1" i="0">
                <a:solidFill>
                  <a:srgbClr val="FFFFFF"/>
                </a:solidFill>
                <a:latin typeface="Space Grotesk"/>
              </a:rPr>
              <a:t>AUDIT &amp; OPS</a:t>
            </a:r>
          </a:p>
        </p:txBody>
      </p:sp>
      <p:sp>
        <p:nvSpPr>
          <p:cNvPr id="100" name="Rounded Rectangle 99"/>
          <p:cNvSpPr/>
          <p:nvPr/>
        </p:nvSpPr>
        <p:spPr>
          <a:xfrm>
            <a:off x="9436608" y="5486400"/>
            <a:ext cx="2011680" cy="10515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4E4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9546336" y="5559552"/>
            <a:ext cx="1792224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50" b="1" i="0">
                <a:solidFill>
                  <a:srgbClr val="09090B"/>
                </a:solidFill>
                <a:latin typeface="Space Grotesk"/>
              </a:rPr>
              <a:t>Rohith Kumar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546336" y="5779008"/>
            <a:ext cx="1792224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00" b="0" i="0">
                <a:solidFill>
                  <a:srgbClr val="475569"/>
                </a:solidFill>
                <a:latin typeface="Inter"/>
              </a:rPr>
              <a:t>Lead · Subsystem F</a:t>
            </a:r>
          </a:p>
        </p:txBody>
      </p:sp>
      <p:sp>
        <p:nvSpPr>
          <p:cNvPr id="103" name="Rounded Rectangle 102"/>
          <p:cNvSpPr/>
          <p:nvPr/>
        </p:nvSpPr>
        <p:spPr>
          <a:xfrm>
            <a:off x="9546336" y="6080760"/>
            <a:ext cx="1097280" cy="201168"/>
          </a:xfrm>
          <a:prstGeom prst="round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9546336" y="6099048"/>
            <a:ext cx="109728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680" b="1" i="0">
                <a:solidFill>
                  <a:srgbClr val="0A1628"/>
                </a:solidFill>
                <a:latin typeface="Space Grotesk"/>
              </a:rPr>
              <a:t>FIELD CONOPS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0"/>
            <a:ext cx="7315" cy="6858000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14400" y="0"/>
            <a:ext cx="7315" cy="6858000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371600" y="0"/>
            <a:ext cx="7315" cy="6858000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828800" y="0"/>
            <a:ext cx="7315" cy="6858000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286000" y="0"/>
            <a:ext cx="7315" cy="6858000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0" y="0"/>
            <a:ext cx="7315" cy="6858000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200400" y="0"/>
            <a:ext cx="7315" cy="6858000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657600" y="0"/>
            <a:ext cx="7315" cy="6858000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114800" y="0"/>
            <a:ext cx="7315" cy="6858000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0" y="0"/>
            <a:ext cx="7315" cy="6858000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029200" y="0"/>
            <a:ext cx="7315" cy="6858000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486400" y="0"/>
            <a:ext cx="7315" cy="6858000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943600" y="0"/>
            <a:ext cx="7315" cy="6858000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0" y="0"/>
            <a:ext cx="7315" cy="6858000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858000" y="0"/>
            <a:ext cx="7315" cy="6858000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315200" y="0"/>
            <a:ext cx="7315" cy="6858000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772400" y="0"/>
            <a:ext cx="7315" cy="6858000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229600" y="0"/>
            <a:ext cx="7315" cy="6858000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686800" y="0"/>
            <a:ext cx="7315" cy="6858000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144000" y="0"/>
            <a:ext cx="7315" cy="6858000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9601200" y="0"/>
            <a:ext cx="7315" cy="6858000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0058400" y="0"/>
            <a:ext cx="7315" cy="6858000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10515600" y="0"/>
            <a:ext cx="7315" cy="6858000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0972800" y="0"/>
            <a:ext cx="7315" cy="6858000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1430000" y="0"/>
            <a:ext cx="7315" cy="6858000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0" y="457200"/>
            <a:ext cx="12191695" cy="7315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0" y="914400"/>
            <a:ext cx="12191695" cy="7315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0" y="1371600"/>
            <a:ext cx="12191695" cy="7315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0" y="1828800"/>
            <a:ext cx="12191695" cy="7315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0" y="2286000"/>
            <a:ext cx="12191695" cy="7315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0" y="2743200"/>
            <a:ext cx="12191695" cy="7315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0" y="3200400"/>
            <a:ext cx="12191695" cy="7315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0" y="3657600"/>
            <a:ext cx="12191695" cy="7315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0" y="4114800"/>
            <a:ext cx="12191695" cy="7315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0" y="4572000"/>
            <a:ext cx="12191695" cy="7315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0" y="5029200"/>
            <a:ext cx="12191695" cy="7315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0" y="5486400"/>
            <a:ext cx="12191695" cy="7315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0" y="5943600"/>
            <a:ext cx="12191695" cy="7315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0" y="6400800"/>
            <a:ext cx="12191695" cy="7315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731520" y="438912"/>
            <a:ext cx="73152" cy="274320"/>
          </a:xfrm>
          <a:prstGeom prst="roundRect">
            <a:avLst/>
          </a:prstGeom>
          <a:solidFill>
            <a:srgbClr val="E11D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77824" y="45720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 i="0">
                <a:solidFill>
                  <a:srgbClr val="09090B"/>
                </a:solidFill>
                <a:latin typeface="JetBrains Mono"/>
              </a:rPr>
              <a:t>THE PROBLEM — 4 SUBSYSTEM FAILURE VOIDS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8961120" y="438912"/>
            <a:ext cx="2468880" cy="274320"/>
          </a:xfrm>
          <a:prstGeom prst="roundRect">
            <a:avLst/>
          </a:prstGeom>
          <a:solidFill>
            <a:srgbClr val="FFF1F2"/>
          </a:solidFill>
          <a:ln w="12700">
            <a:solidFill>
              <a:srgbClr val="FECDD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9098280" y="530352"/>
            <a:ext cx="73152" cy="73152"/>
          </a:xfrm>
          <a:prstGeom prst="ellipse">
            <a:avLst/>
          </a:prstGeom>
          <a:solidFill>
            <a:srgbClr val="E11D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9235440" y="475488"/>
            <a:ext cx="210312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750" b="1" i="0">
                <a:solidFill>
                  <a:srgbClr val="E11D48"/>
                </a:solidFill>
                <a:latin typeface="JetBrains Mono"/>
              </a:rPr>
              <a:t>FIELD DISASTER AUDIT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31520" y="868680"/>
            <a:ext cx="685800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100" b="1" i="0">
                <a:solidFill>
                  <a:srgbClr val="09090B"/>
                </a:solidFill>
                <a:latin typeface="Space Grotesk"/>
              </a:rPr>
              <a:t>Traditional Search &amp; Rescue Collapses Across 4 Critical Voids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7589520" y="960120"/>
            <a:ext cx="960120" cy="274320"/>
          </a:xfrm>
          <a:prstGeom prst="roundRect">
            <a:avLst/>
          </a:prstGeom>
          <a:solidFill>
            <a:srgbClr val="FFF1F2"/>
          </a:solidFill>
          <a:ln w="12700">
            <a:solidFill>
              <a:srgbClr val="E4E4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589520" y="1005840"/>
            <a:ext cx="96012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600" b="1" i="0">
                <a:solidFill>
                  <a:srgbClr val="E11D48"/>
                </a:solidFill>
                <a:latin typeface="JetBrains Mono"/>
              </a:rPr>
              <a:t>70% CANOPY CRASHES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8595360" y="960120"/>
            <a:ext cx="960120" cy="2743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4E4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8595360" y="1005840"/>
            <a:ext cx="96012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600" b="1" i="0">
                <a:solidFill>
                  <a:srgbClr val="475569"/>
                </a:solidFill>
                <a:latin typeface="JetBrains Mono"/>
              </a:rPr>
              <a:t>15-30m GEO ERROR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9601200" y="960120"/>
            <a:ext cx="960120" cy="2743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4E4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9601200" y="1005840"/>
            <a:ext cx="96012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600" b="1" i="0">
                <a:solidFill>
                  <a:srgbClr val="475569"/>
                </a:solidFill>
                <a:latin typeface="JetBrains Mono"/>
              </a:rPr>
              <a:t>2-3 HOURS DELAY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10607040" y="960120"/>
            <a:ext cx="960120" cy="274320"/>
          </a:xfrm>
          <a:prstGeom prst="roundRect">
            <a:avLst/>
          </a:prstGeom>
          <a:solidFill>
            <a:srgbClr val="FFF1F2"/>
          </a:solidFill>
          <a:ln w="12700">
            <a:solidFill>
              <a:srgbClr val="E4E4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10607040" y="1005840"/>
            <a:ext cx="96012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600" b="1" i="0">
                <a:solidFill>
                  <a:srgbClr val="E11D48"/>
                </a:solidFill>
                <a:latin typeface="JetBrains Mono"/>
              </a:rPr>
              <a:t>₹40L+ AIRFRAMES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731520" y="1536192"/>
            <a:ext cx="2542032" cy="397763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4E4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7" name="Picture 56" descr="gps_canopy_shadow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4672" y="1609344"/>
            <a:ext cx="2395728" cy="868680"/>
          </a:xfrm>
          <a:prstGeom prst="rect">
            <a:avLst/>
          </a:prstGeom>
        </p:spPr>
      </p:pic>
      <p:sp>
        <p:nvSpPr>
          <p:cNvPr id="58" name="Rectangle 57"/>
          <p:cNvSpPr/>
          <p:nvPr/>
        </p:nvSpPr>
        <p:spPr>
          <a:xfrm>
            <a:off x="804672" y="2267712"/>
            <a:ext cx="2395728" cy="210312"/>
          </a:xfrm>
          <a:prstGeom prst="rect">
            <a:avLst/>
          </a:prstGeom>
          <a:solidFill>
            <a:srgbClr val="0909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841248" y="2286000"/>
            <a:ext cx="2322576" cy="1645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580" b="1" i="0">
                <a:solidFill>
                  <a:srgbClr val="FFFFFF"/>
                </a:solidFill>
                <a:latin typeface="JetBrains Mono"/>
              </a:rPr>
              <a:t>Wayanad Canopy Crash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41248" y="2542032"/>
            <a:ext cx="1188720" cy="1645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620" b="1" i="0">
                <a:solidFill>
                  <a:srgbClr val="94A3B8"/>
                </a:solidFill>
                <a:latin typeface="JetBrains Mono"/>
              </a:rPr>
              <a:t>SUBSYSTEM A // GNC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2057400" y="2523744"/>
            <a:ext cx="1097280" cy="182880"/>
          </a:xfrm>
          <a:prstGeom prst="roundRect">
            <a:avLst/>
          </a:prstGeom>
          <a:solidFill>
            <a:srgbClr val="FFF1F2"/>
          </a:solidFill>
          <a:ln w="12700">
            <a:solidFill>
              <a:srgbClr val="FECDD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2057400" y="2542032"/>
            <a:ext cx="1097280" cy="1645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580" b="1" i="0">
                <a:solidFill>
                  <a:srgbClr val="E11D48"/>
                </a:solidFill>
                <a:latin typeface="JetBrains Mono"/>
              </a:rPr>
              <a:t>GPS MULTI-PATH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841248" y="2743200"/>
            <a:ext cx="2322576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50" b="1" i="0">
                <a:solidFill>
                  <a:srgbClr val="09090B"/>
                </a:solidFill>
                <a:latin typeface="Space Grotesk"/>
              </a:rPr>
              <a:t>Canopy GPS Drift &amp; Crashes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822960" y="3136392"/>
            <a:ext cx="2359152" cy="548640"/>
          </a:xfrm>
          <a:prstGeom prst="roundRect">
            <a:avLst/>
          </a:prstGeom>
          <a:solidFill>
            <a:srgbClr val="FEF2F2"/>
          </a:solidFill>
          <a:ln w="12700">
            <a:solidFill>
              <a:srgbClr val="FECD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859536" y="3163824"/>
            <a:ext cx="2286000" cy="1371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550" b="1" i="0">
                <a:solidFill>
                  <a:srgbClr val="E11D48"/>
                </a:solidFill>
                <a:latin typeface="JetBrains Mono"/>
              </a:rPr>
              <a:t>CORE FAILURE MECHANISM: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59536" y="3310128"/>
            <a:ext cx="2286000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680" b="1" i="0">
                <a:solidFill>
                  <a:srgbClr val="09090B"/>
                </a:solidFill>
                <a:latin typeface="Inter"/>
              </a:rPr>
              <a:t>Dense foliage blocks satellite GNSS signals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822960" y="3730752"/>
            <a:ext cx="2359152" cy="8686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4E4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859536" y="3767328"/>
            <a:ext cx="2286000" cy="1371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580" b="1" i="0">
                <a:solidFill>
                  <a:srgbClr val="09090B"/>
                </a:solidFill>
                <a:latin typeface="JetBrains Mono"/>
              </a:rPr>
              <a:t>OPERATIONAL IMPACT: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59536" y="3931920"/>
            <a:ext cx="228600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650" b="0" i="0">
                <a:solidFill>
                  <a:srgbClr val="475569"/>
                </a:solidFill>
                <a:latin typeface="JetBrains Mono"/>
              </a:rPr>
              <a:t>Commercial drones lose position lock, drifting into tree canopies and causing rotor loss.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822960" y="4663440"/>
            <a:ext cx="1143000" cy="438912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4E4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822960" y="4690872"/>
            <a:ext cx="114300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850" b="1" i="0">
                <a:solidFill>
                  <a:srgbClr val="E11D48"/>
                </a:solidFill>
                <a:latin typeface="JetBrains Mono"/>
              </a:rPr>
              <a:t>70% Loss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22960" y="4901184"/>
            <a:ext cx="1143000" cy="1645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550" b="0" i="0">
                <a:solidFill>
                  <a:srgbClr val="64748B"/>
                </a:solidFill>
                <a:latin typeface="JetBrains Mono"/>
              </a:rPr>
              <a:t>Canopy Sorties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2039112" y="4663440"/>
            <a:ext cx="1143000" cy="438912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4E4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2039112" y="4690872"/>
            <a:ext cx="114300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850" b="1" i="0">
                <a:solidFill>
                  <a:srgbClr val="09090B"/>
                </a:solidFill>
                <a:latin typeface="JetBrains Mono"/>
              </a:rPr>
              <a:t>0 Hold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2039112" y="4901184"/>
            <a:ext cx="1143000" cy="1645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550" b="0" i="0">
                <a:solidFill>
                  <a:srgbClr val="64748B"/>
                </a:solidFill>
                <a:latin typeface="JetBrains Mono"/>
              </a:rPr>
              <a:t>Non-GPS Stability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822960" y="5157216"/>
            <a:ext cx="1188720" cy="1645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550" b="0" i="0">
                <a:solidFill>
                  <a:srgbClr val="64748B"/>
                </a:solidFill>
                <a:latin typeface="JetBrains Mono"/>
              </a:rPr>
              <a:t>TARGET: PX4 &amp; 3D ORCA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965960" y="5157216"/>
            <a:ext cx="1188720" cy="1645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550" b="1" i="0">
                <a:solidFill>
                  <a:srgbClr val="E11D48"/>
                </a:solidFill>
                <a:latin typeface="JetBrains Mono"/>
              </a:rPr>
              <a:t>LEAD: NIKHIL</a:t>
            </a:r>
          </a:p>
        </p:txBody>
      </p:sp>
      <p:sp>
        <p:nvSpPr>
          <p:cNvPr id="78" name="Rectangle 77"/>
          <p:cNvSpPr/>
          <p:nvPr/>
        </p:nvSpPr>
        <p:spPr>
          <a:xfrm>
            <a:off x="731520" y="5477255"/>
            <a:ext cx="2542032" cy="36576"/>
          </a:xfrm>
          <a:prstGeom prst="rect">
            <a:avLst/>
          </a:prstGeom>
          <a:solidFill>
            <a:srgbClr val="E11D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ounded Rectangle 78"/>
          <p:cNvSpPr/>
          <p:nvPr/>
        </p:nvSpPr>
        <p:spPr>
          <a:xfrm>
            <a:off x="3456432" y="1536192"/>
            <a:ext cx="2542032" cy="397763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4E4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0" name="Picture 79" descr="rf_mountain_shadow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29584" y="1609344"/>
            <a:ext cx="2395728" cy="868680"/>
          </a:xfrm>
          <a:prstGeom prst="rect">
            <a:avLst/>
          </a:prstGeom>
        </p:spPr>
      </p:pic>
      <p:sp>
        <p:nvSpPr>
          <p:cNvPr id="81" name="Rectangle 80"/>
          <p:cNvSpPr/>
          <p:nvPr/>
        </p:nvSpPr>
        <p:spPr>
          <a:xfrm>
            <a:off x="3529584" y="2267712"/>
            <a:ext cx="2395728" cy="210312"/>
          </a:xfrm>
          <a:prstGeom prst="rect">
            <a:avLst/>
          </a:prstGeom>
          <a:solidFill>
            <a:srgbClr val="0909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3566160" y="2286000"/>
            <a:ext cx="2322576" cy="1645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580" b="1" i="0">
                <a:solidFill>
                  <a:srgbClr val="FFFFFF"/>
                </a:solidFill>
                <a:latin typeface="JetBrains Mono"/>
              </a:rPr>
              <a:t>Chamoli Gorge RF Cut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3566160" y="2542032"/>
            <a:ext cx="1188720" cy="1645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620" b="1" i="0">
                <a:solidFill>
                  <a:srgbClr val="94A3B8"/>
                </a:solidFill>
                <a:latin typeface="JetBrains Mono"/>
              </a:rPr>
              <a:t>SUBSYSTEM B // COMMS</a:t>
            </a:r>
          </a:p>
        </p:txBody>
      </p:sp>
      <p:sp>
        <p:nvSpPr>
          <p:cNvPr id="84" name="Rounded Rectangle 83"/>
          <p:cNvSpPr/>
          <p:nvPr/>
        </p:nvSpPr>
        <p:spPr>
          <a:xfrm>
            <a:off x="4782312" y="2523744"/>
            <a:ext cx="1097280" cy="182880"/>
          </a:xfrm>
          <a:prstGeom prst="roundRect">
            <a:avLst/>
          </a:prstGeom>
          <a:solidFill>
            <a:srgbClr val="FFF1F2"/>
          </a:solidFill>
          <a:ln w="12700">
            <a:solidFill>
              <a:srgbClr val="FECDD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4782312" y="2542032"/>
            <a:ext cx="1097280" cy="1645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580" b="1" i="0">
                <a:solidFill>
                  <a:srgbClr val="E11D48"/>
                </a:solidFill>
                <a:latin typeface="JetBrains Mono"/>
              </a:rPr>
              <a:t>DIGITAL CLIFF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3566160" y="2743200"/>
            <a:ext cx="2322576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50" b="1" i="0">
                <a:solidFill>
                  <a:srgbClr val="09090B"/>
                </a:solidFill>
                <a:latin typeface="Space Grotesk"/>
              </a:rPr>
              <a:t>Mountain Ravine RF Blackout</a:t>
            </a:r>
          </a:p>
        </p:txBody>
      </p:sp>
      <p:sp>
        <p:nvSpPr>
          <p:cNvPr id="87" name="Rounded Rectangle 86"/>
          <p:cNvSpPr/>
          <p:nvPr/>
        </p:nvSpPr>
        <p:spPr>
          <a:xfrm>
            <a:off x="3547872" y="3136392"/>
            <a:ext cx="2359152" cy="548640"/>
          </a:xfrm>
          <a:prstGeom prst="roundRect">
            <a:avLst/>
          </a:prstGeom>
          <a:solidFill>
            <a:srgbClr val="FEF2F2"/>
          </a:solidFill>
          <a:ln w="12700">
            <a:solidFill>
              <a:srgbClr val="FECD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3584448" y="3163824"/>
            <a:ext cx="2286000" cy="1371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550" b="1" i="0">
                <a:solidFill>
                  <a:srgbClr val="E11D48"/>
                </a:solidFill>
                <a:latin typeface="JetBrains Mono"/>
              </a:rPr>
              <a:t>CORE FAILURE MECHANISM: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3584448" y="3310128"/>
            <a:ext cx="2286000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680" b="1" i="0">
                <a:solidFill>
                  <a:srgbClr val="09090B"/>
                </a:solidFill>
                <a:latin typeface="Inter"/>
              </a:rPr>
              <a:t>Ridgelines sever direct line-of-sight RF</a:t>
            </a:r>
          </a:p>
        </p:txBody>
      </p:sp>
      <p:sp>
        <p:nvSpPr>
          <p:cNvPr id="90" name="Rounded Rectangle 89"/>
          <p:cNvSpPr/>
          <p:nvPr/>
        </p:nvSpPr>
        <p:spPr>
          <a:xfrm>
            <a:off x="3547872" y="3730752"/>
            <a:ext cx="2359152" cy="8686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4E4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3584448" y="3767328"/>
            <a:ext cx="2286000" cy="1371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580" b="1" i="0">
                <a:solidFill>
                  <a:srgbClr val="09090B"/>
                </a:solidFill>
                <a:latin typeface="JetBrains Mono"/>
              </a:rPr>
              <a:t>OPERATIONAL IMPACT: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3584448" y="3931920"/>
            <a:ext cx="228600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650" b="0" i="0">
                <a:solidFill>
                  <a:srgbClr val="475569"/>
                </a:solidFill>
                <a:latin typeface="JetBrains Mono"/>
              </a:rPr>
              <a:t>Conventional H.264 digital video completely cuts out below 5dB SNR, causing total blindness.</a:t>
            </a:r>
          </a:p>
        </p:txBody>
      </p:sp>
      <p:sp>
        <p:nvSpPr>
          <p:cNvPr id="93" name="Rounded Rectangle 92"/>
          <p:cNvSpPr/>
          <p:nvPr/>
        </p:nvSpPr>
        <p:spPr>
          <a:xfrm>
            <a:off x="3547872" y="4663440"/>
            <a:ext cx="1143000" cy="438912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4E4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3547872" y="4690872"/>
            <a:ext cx="114300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850" b="1" i="0">
                <a:solidFill>
                  <a:srgbClr val="E11D48"/>
                </a:solidFill>
                <a:latin typeface="JetBrains Mono"/>
              </a:rPr>
              <a:t>&lt;5dB SNR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3547872" y="4901184"/>
            <a:ext cx="1143000" cy="1645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550" b="0" i="0">
                <a:solidFill>
                  <a:srgbClr val="64748B"/>
                </a:solidFill>
                <a:latin typeface="JetBrains Mono"/>
              </a:rPr>
              <a:t>Video Blackout</a:t>
            </a:r>
          </a:p>
        </p:txBody>
      </p:sp>
      <p:sp>
        <p:nvSpPr>
          <p:cNvPr id="96" name="Rounded Rectangle 95"/>
          <p:cNvSpPr/>
          <p:nvPr/>
        </p:nvSpPr>
        <p:spPr>
          <a:xfrm>
            <a:off x="4764024" y="4663440"/>
            <a:ext cx="1143000" cy="438912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4E4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4764024" y="4690872"/>
            <a:ext cx="114300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850" b="1" i="0">
                <a:solidFill>
                  <a:srgbClr val="09090B"/>
                </a:solidFill>
                <a:latin typeface="JetBrains Mono"/>
              </a:rPr>
              <a:t>0 Relay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4764024" y="4901184"/>
            <a:ext cx="1143000" cy="1645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550" b="0" i="0">
                <a:solidFill>
                  <a:srgbClr val="64748B"/>
                </a:solidFill>
                <a:latin typeface="JetBrains Mono"/>
              </a:rPr>
              <a:t>Single-Drone Link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3547872" y="5157216"/>
            <a:ext cx="1188720" cy="1645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550" b="0" i="0">
                <a:solidFill>
                  <a:srgbClr val="64748B"/>
                </a:solidFill>
                <a:latin typeface="JetBrains Mono"/>
              </a:rPr>
              <a:t>TARGET: DEEP JSCC MESH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4690872" y="5157216"/>
            <a:ext cx="1188720" cy="1645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550" b="1" i="0">
                <a:solidFill>
                  <a:srgbClr val="E11D48"/>
                </a:solidFill>
                <a:latin typeface="JetBrains Mono"/>
              </a:rPr>
              <a:t>LEAD: NIKHIL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3456432" y="5477255"/>
            <a:ext cx="2542032" cy="36576"/>
          </a:xfrm>
          <a:prstGeom prst="rect">
            <a:avLst/>
          </a:prstGeom>
          <a:solidFill>
            <a:srgbClr val="E11D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Rounded Rectangle 101"/>
          <p:cNvSpPr/>
          <p:nvPr/>
        </p:nvSpPr>
        <p:spPr>
          <a:xfrm>
            <a:off x="6181344" y="1536192"/>
            <a:ext cx="2542032" cy="397763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4E4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3" name="Picture 102" descr="disaster_rescue_2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54496" y="1609344"/>
            <a:ext cx="2395728" cy="868680"/>
          </a:xfrm>
          <a:prstGeom prst="rect">
            <a:avLst/>
          </a:prstGeom>
        </p:spPr>
      </p:pic>
      <p:sp>
        <p:nvSpPr>
          <p:cNvPr id="104" name="Rectangle 103"/>
          <p:cNvSpPr/>
          <p:nvPr/>
        </p:nvSpPr>
        <p:spPr>
          <a:xfrm>
            <a:off x="6254496" y="2267712"/>
            <a:ext cx="2395728" cy="210312"/>
          </a:xfrm>
          <a:prstGeom prst="rect">
            <a:avLst/>
          </a:prstGeom>
          <a:solidFill>
            <a:srgbClr val="0909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291072" y="2286000"/>
            <a:ext cx="2322576" cy="1645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580" b="1" i="0">
                <a:solidFill>
                  <a:srgbClr val="FFFFFF"/>
                </a:solidFill>
                <a:latin typeface="JetBrains Mono"/>
              </a:rPr>
              <a:t>Sikkim Slope Geo Error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6291072" y="2542032"/>
            <a:ext cx="1188720" cy="1645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620" b="1" i="0">
                <a:solidFill>
                  <a:srgbClr val="94A3B8"/>
                </a:solidFill>
                <a:latin typeface="JetBrains Mono"/>
              </a:rPr>
              <a:t>SUBSYSTEM C // VISION</a:t>
            </a:r>
          </a:p>
        </p:txBody>
      </p:sp>
      <p:sp>
        <p:nvSpPr>
          <p:cNvPr id="107" name="Rounded Rectangle 106"/>
          <p:cNvSpPr/>
          <p:nvPr/>
        </p:nvSpPr>
        <p:spPr>
          <a:xfrm>
            <a:off x="7507224" y="2523744"/>
            <a:ext cx="1097280" cy="182880"/>
          </a:xfrm>
          <a:prstGeom prst="roundRect">
            <a:avLst/>
          </a:prstGeom>
          <a:solidFill>
            <a:srgbClr val="FFF1F2"/>
          </a:solidFill>
          <a:ln w="12700">
            <a:solidFill>
              <a:srgbClr val="FECDD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7507224" y="2542032"/>
            <a:ext cx="1097280" cy="1645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580" b="1" i="0">
                <a:solidFill>
                  <a:srgbClr val="E11D48"/>
                </a:solidFill>
                <a:latin typeface="JetBrains Mono"/>
              </a:rPr>
              <a:t>35% FALSE ALARM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6291072" y="2743200"/>
            <a:ext cx="2322576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50" b="1" i="0">
                <a:solidFill>
                  <a:srgbClr val="09090B"/>
                </a:solidFill>
                <a:latin typeface="Space Grotesk"/>
              </a:rPr>
              <a:t>Single-Sensor &amp; Slope Drift</a:t>
            </a:r>
          </a:p>
        </p:txBody>
      </p:sp>
      <p:sp>
        <p:nvSpPr>
          <p:cNvPr id="110" name="Rounded Rectangle 109"/>
          <p:cNvSpPr/>
          <p:nvPr/>
        </p:nvSpPr>
        <p:spPr>
          <a:xfrm>
            <a:off x="6272784" y="3136392"/>
            <a:ext cx="2359152" cy="548640"/>
          </a:xfrm>
          <a:prstGeom prst="roundRect">
            <a:avLst/>
          </a:prstGeom>
          <a:solidFill>
            <a:srgbClr val="FEF2F2"/>
          </a:solidFill>
          <a:ln w="12700">
            <a:solidFill>
              <a:srgbClr val="FECD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6309360" y="3163824"/>
            <a:ext cx="2286000" cy="1371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550" b="1" i="0">
                <a:solidFill>
                  <a:srgbClr val="E11D48"/>
                </a:solidFill>
                <a:latin typeface="JetBrains Mono"/>
              </a:rPr>
              <a:t>CORE FAILURE MECHANISM: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6309360" y="3310128"/>
            <a:ext cx="2286000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680" b="1" i="0">
                <a:solidFill>
                  <a:srgbClr val="09090B"/>
                </a:solidFill>
                <a:latin typeface="Inter"/>
              </a:rPr>
              <a:t>2D cameras assume flat ground; blind to smoke</a:t>
            </a:r>
          </a:p>
        </p:txBody>
      </p:sp>
      <p:sp>
        <p:nvSpPr>
          <p:cNvPr id="113" name="Rounded Rectangle 112"/>
          <p:cNvSpPr/>
          <p:nvPr/>
        </p:nvSpPr>
        <p:spPr>
          <a:xfrm>
            <a:off x="6272784" y="3730752"/>
            <a:ext cx="2359152" cy="8686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4E4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6309360" y="3767328"/>
            <a:ext cx="2286000" cy="1371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580" b="1" i="0">
                <a:solidFill>
                  <a:srgbClr val="09090B"/>
                </a:solidFill>
                <a:latin typeface="JetBrains Mono"/>
              </a:rPr>
              <a:t>OPERATIONAL IMPACT: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6309360" y="3931920"/>
            <a:ext cx="228600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650" b="0" i="0">
                <a:solidFill>
                  <a:srgbClr val="475569"/>
                </a:solidFill>
                <a:latin typeface="JetBrains Mono"/>
              </a:rPr>
              <a:t>Smoke/darkness blind single RGB sensors; steep slopes produce 15–30m GPS coordinate errors.</a:t>
            </a:r>
          </a:p>
        </p:txBody>
      </p:sp>
      <p:sp>
        <p:nvSpPr>
          <p:cNvPr id="116" name="Rounded Rectangle 115"/>
          <p:cNvSpPr/>
          <p:nvPr/>
        </p:nvSpPr>
        <p:spPr>
          <a:xfrm>
            <a:off x="6272784" y="4663440"/>
            <a:ext cx="1143000" cy="438912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4E4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6272784" y="4690872"/>
            <a:ext cx="114300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850" b="1" i="0">
                <a:solidFill>
                  <a:srgbClr val="E11D48"/>
                </a:solidFill>
                <a:latin typeface="JetBrains Mono"/>
              </a:rPr>
              <a:t>15–30m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6272784" y="4901184"/>
            <a:ext cx="1143000" cy="1645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550" b="0" i="0">
                <a:solidFill>
                  <a:srgbClr val="64748B"/>
                </a:solidFill>
                <a:latin typeface="JetBrains Mono"/>
              </a:rPr>
              <a:t>Slope Geo Drift</a:t>
            </a:r>
          </a:p>
        </p:txBody>
      </p:sp>
      <p:sp>
        <p:nvSpPr>
          <p:cNvPr id="119" name="Rounded Rectangle 118"/>
          <p:cNvSpPr/>
          <p:nvPr/>
        </p:nvSpPr>
        <p:spPr>
          <a:xfrm>
            <a:off x="7488936" y="4663440"/>
            <a:ext cx="1143000" cy="438912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4E4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TextBox 119"/>
          <p:cNvSpPr txBox="1"/>
          <p:nvPr/>
        </p:nvSpPr>
        <p:spPr>
          <a:xfrm>
            <a:off x="7488936" y="4690872"/>
            <a:ext cx="114300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850" b="1" i="0">
                <a:solidFill>
                  <a:srgbClr val="09090B"/>
                </a:solidFill>
                <a:latin typeface="JetBrains Mono"/>
              </a:rPr>
              <a:t>35%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7488936" y="4901184"/>
            <a:ext cx="1143000" cy="1645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550" b="0" i="0">
                <a:solidFill>
                  <a:srgbClr val="64748B"/>
                </a:solidFill>
                <a:latin typeface="JetBrains Mono"/>
              </a:rPr>
              <a:t>False Alarm Rate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6272784" y="5157216"/>
            <a:ext cx="1188720" cy="1645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550" b="0" i="0">
                <a:solidFill>
                  <a:srgbClr val="64748B"/>
                </a:solidFill>
                <a:latin typeface="JetBrains Mono"/>
              </a:rPr>
              <a:t>TARGET: TRI-MODAL &amp; 3D DEM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7415784" y="5157216"/>
            <a:ext cx="1188720" cy="1645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550" b="1" i="0">
                <a:solidFill>
                  <a:srgbClr val="E11D48"/>
                </a:solidFill>
                <a:latin typeface="JetBrains Mono"/>
              </a:rPr>
              <a:t>LEAD: VEDANTH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6181344" y="5477255"/>
            <a:ext cx="2542032" cy="36576"/>
          </a:xfrm>
          <a:prstGeom prst="rect">
            <a:avLst/>
          </a:prstGeom>
          <a:solidFill>
            <a:srgbClr val="E11D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Rounded Rectangle 124"/>
          <p:cNvSpPr/>
          <p:nvPr/>
        </p:nvSpPr>
        <p:spPr>
          <a:xfrm>
            <a:off x="8906256" y="1536192"/>
            <a:ext cx="2542032" cy="397763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4E4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6" name="Picture 125" descr="single_link_loss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979408" y="1609344"/>
            <a:ext cx="2395728" cy="868680"/>
          </a:xfrm>
          <a:prstGeom prst="rect">
            <a:avLst/>
          </a:prstGeom>
        </p:spPr>
      </p:pic>
      <p:sp>
        <p:nvSpPr>
          <p:cNvPr id="127" name="Rectangle 126"/>
          <p:cNvSpPr/>
          <p:nvPr/>
        </p:nvSpPr>
        <p:spPr>
          <a:xfrm>
            <a:off x="8979408" y="2267712"/>
            <a:ext cx="2395728" cy="210312"/>
          </a:xfrm>
          <a:prstGeom prst="rect">
            <a:avLst/>
          </a:prstGeom>
          <a:solidFill>
            <a:srgbClr val="0909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TextBox 127"/>
          <p:cNvSpPr txBox="1"/>
          <p:nvPr/>
        </p:nvSpPr>
        <p:spPr>
          <a:xfrm>
            <a:off x="9015984" y="2286000"/>
            <a:ext cx="2322576" cy="1645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580" b="1" i="0">
                <a:solidFill>
                  <a:srgbClr val="FFFFFF"/>
                </a:solidFill>
                <a:latin typeface="JetBrains Mono"/>
              </a:rPr>
              <a:t>Central Link Abort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9015984" y="2542032"/>
            <a:ext cx="1188720" cy="1645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620" b="1" i="0">
                <a:solidFill>
                  <a:srgbClr val="94A3B8"/>
                </a:solidFill>
                <a:latin typeface="JetBrains Mono"/>
              </a:rPr>
              <a:t>SUBSYSTEM D // C2 GCS</a:t>
            </a:r>
          </a:p>
        </p:txBody>
      </p:sp>
      <p:sp>
        <p:nvSpPr>
          <p:cNvPr id="130" name="Rounded Rectangle 129"/>
          <p:cNvSpPr/>
          <p:nvPr/>
        </p:nvSpPr>
        <p:spPr>
          <a:xfrm>
            <a:off x="10232136" y="2523744"/>
            <a:ext cx="1097280" cy="182880"/>
          </a:xfrm>
          <a:prstGeom prst="roundRect">
            <a:avLst/>
          </a:prstGeom>
          <a:solidFill>
            <a:srgbClr val="FFF1F2"/>
          </a:solidFill>
          <a:ln w="12700">
            <a:solidFill>
              <a:srgbClr val="FECDD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10232136" y="2542032"/>
            <a:ext cx="1097280" cy="1645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580" b="1" i="0">
                <a:solidFill>
                  <a:srgbClr val="E11D48"/>
                </a:solidFill>
                <a:latin typeface="JetBrains Mono"/>
              </a:rPr>
              <a:t>15-25 CREW LOAD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015984" y="2743200"/>
            <a:ext cx="2322576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50" b="1" i="0">
                <a:solidFill>
                  <a:srgbClr val="09090B"/>
                </a:solidFill>
                <a:latin typeface="Space Grotesk"/>
              </a:rPr>
              <a:t>Central Pilot Bottleneck</a:t>
            </a:r>
          </a:p>
        </p:txBody>
      </p:sp>
      <p:sp>
        <p:nvSpPr>
          <p:cNvPr id="133" name="Rounded Rectangle 132"/>
          <p:cNvSpPr/>
          <p:nvPr/>
        </p:nvSpPr>
        <p:spPr>
          <a:xfrm>
            <a:off x="8997696" y="3136392"/>
            <a:ext cx="2359152" cy="548640"/>
          </a:xfrm>
          <a:prstGeom prst="roundRect">
            <a:avLst/>
          </a:prstGeom>
          <a:solidFill>
            <a:srgbClr val="FEF2F2"/>
          </a:solidFill>
          <a:ln w="12700">
            <a:solidFill>
              <a:srgbClr val="FECD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9034272" y="3163824"/>
            <a:ext cx="2286000" cy="1371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550" b="1" i="0">
                <a:solidFill>
                  <a:srgbClr val="E11D48"/>
                </a:solidFill>
                <a:latin typeface="JetBrains Mono"/>
              </a:rPr>
              <a:t>CORE FAILURE MECHANISM: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9034272" y="3310128"/>
            <a:ext cx="2286000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680" b="1" i="0">
                <a:solidFill>
                  <a:srgbClr val="09090B"/>
                </a:solidFill>
                <a:latin typeface="Inter"/>
              </a:rPr>
              <a:t>1-pilot-per-drone manual radio control</a:t>
            </a:r>
          </a:p>
        </p:txBody>
      </p:sp>
      <p:sp>
        <p:nvSpPr>
          <p:cNvPr id="136" name="Rounded Rectangle 135"/>
          <p:cNvSpPr/>
          <p:nvPr/>
        </p:nvSpPr>
        <p:spPr>
          <a:xfrm>
            <a:off x="8997696" y="3730752"/>
            <a:ext cx="2359152" cy="8686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4E4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9034272" y="3767328"/>
            <a:ext cx="2286000" cy="1371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580" b="1" i="0">
                <a:solidFill>
                  <a:srgbClr val="09090B"/>
                </a:solidFill>
                <a:latin typeface="JetBrains Mono"/>
              </a:rPr>
              <a:t>OPERATIONAL IMPACT: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9034272" y="3931920"/>
            <a:ext cx="228600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650" b="0" i="0">
                <a:solidFill>
                  <a:srgbClr val="475569"/>
                </a:solidFill>
                <a:latin typeface="JetBrains Mono"/>
              </a:rPr>
              <a:t>Requires 15–25 personnel and 45–90 min setup; sortie aborts if the single pilot link drops.</a:t>
            </a:r>
          </a:p>
        </p:txBody>
      </p:sp>
      <p:sp>
        <p:nvSpPr>
          <p:cNvPr id="139" name="Rounded Rectangle 138"/>
          <p:cNvSpPr/>
          <p:nvPr/>
        </p:nvSpPr>
        <p:spPr>
          <a:xfrm>
            <a:off x="8997696" y="4663440"/>
            <a:ext cx="1143000" cy="438912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4E4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TextBox 139"/>
          <p:cNvSpPr txBox="1"/>
          <p:nvPr/>
        </p:nvSpPr>
        <p:spPr>
          <a:xfrm>
            <a:off x="8997696" y="4690872"/>
            <a:ext cx="114300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850" b="1" i="0">
                <a:solidFill>
                  <a:srgbClr val="E11D48"/>
                </a:solidFill>
                <a:latin typeface="JetBrains Mono"/>
              </a:rPr>
              <a:t>2–3 Hrs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8997696" y="4901184"/>
            <a:ext cx="1143000" cy="1645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550" b="0" i="0">
                <a:solidFill>
                  <a:srgbClr val="64748B"/>
                </a:solidFill>
                <a:latin typeface="JetBrains Mono"/>
              </a:rPr>
              <a:t>Search Time / mi²</a:t>
            </a:r>
          </a:p>
        </p:txBody>
      </p:sp>
      <p:sp>
        <p:nvSpPr>
          <p:cNvPr id="142" name="Rounded Rectangle 141"/>
          <p:cNvSpPr/>
          <p:nvPr/>
        </p:nvSpPr>
        <p:spPr>
          <a:xfrm>
            <a:off x="10213848" y="4663440"/>
            <a:ext cx="1143000" cy="438912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4E4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TextBox 142"/>
          <p:cNvSpPr txBox="1"/>
          <p:nvPr/>
        </p:nvSpPr>
        <p:spPr>
          <a:xfrm>
            <a:off x="10213848" y="4690872"/>
            <a:ext cx="114300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850" b="1" i="0">
                <a:solidFill>
                  <a:srgbClr val="09090B"/>
                </a:solidFill>
                <a:latin typeface="JetBrains Mono"/>
              </a:rPr>
              <a:t>₹12.5L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10213848" y="4901184"/>
            <a:ext cx="1143000" cy="1645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550" b="0" i="0">
                <a:solidFill>
                  <a:srgbClr val="64748B"/>
                </a:solidFill>
                <a:latin typeface="JetBrains Mono"/>
              </a:rPr>
              <a:t>Cost / Deployment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8997696" y="5157216"/>
            <a:ext cx="1188720" cy="1645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550" b="0" i="0">
                <a:solidFill>
                  <a:srgbClr val="64748B"/>
                </a:solidFill>
                <a:latin typeface="JetBrains Mono"/>
              </a:rPr>
              <a:t>TARGET: WEBGPU ATAK GCS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0140696" y="5157216"/>
            <a:ext cx="1188720" cy="1645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550" b="1" i="0">
                <a:solidFill>
                  <a:srgbClr val="E11D48"/>
                </a:solidFill>
                <a:latin typeface="JetBrains Mono"/>
              </a:rPr>
              <a:t>LEAD: SIVA</a:t>
            </a:r>
          </a:p>
        </p:txBody>
      </p:sp>
      <p:sp>
        <p:nvSpPr>
          <p:cNvPr id="147" name="Rectangle 146"/>
          <p:cNvSpPr/>
          <p:nvPr/>
        </p:nvSpPr>
        <p:spPr>
          <a:xfrm>
            <a:off x="8906256" y="5477255"/>
            <a:ext cx="2542032" cy="36576"/>
          </a:xfrm>
          <a:prstGeom prst="rect">
            <a:avLst/>
          </a:prstGeom>
          <a:solidFill>
            <a:srgbClr val="E11D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Rounded Rectangle 147"/>
          <p:cNvSpPr/>
          <p:nvPr/>
        </p:nvSpPr>
        <p:spPr>
          <a:xfrm>
            <a:off x="731520" y="5623560"/>
            <a:ext cx="2542032" cy="438912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4E4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TextBox 148"/>
          <p:cNvSpPr txBox="1"/>
          <p:nvPr/>
        </p:nvSpPr>
        <p:spPr>
          <a:xfrm>
            <a:off x="822960" y="5687568"/>
            <a:ext cx="118872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650" b="0" i="0">
                <a:solidFill>
                  <a:srgbClr val="64748B"/>
                </a:solidFill>
                <a:latin typeface="JetBrains Mono"/>
              </a:rPr>
              <a:t>FIELD EVIDENCE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828800" y="5669280"/>
            <a:ext cx="132588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850" b="1" i="0">
                <a:solidFill>
                  <a:srgbClr val="09090B"/>
                </a:solidFill>
                <a:latin typeface="JetBrains Mono"/>
              </a:rPr>
              <a:t>Wayanad Landslide Audit</a:t>
            </a:r>
          </a:p>
        </p:txBody>
      </p:sp>
      <p:sp>
        <p:nvSpPr>
          <p:cNvPr id="151" name="Rounded Rectangle 150"/>
          <p:cNvSpPr/>
          <p:nvPr/>
        </p:nvSpPr>
        <p:spPr>
          <a:xfrm>
            <a:off x="3456432" y="5623560"/>
            <a:ext cx="2542032" cy="438912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4E4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TextBox 151"/>
          <p:cNvSpPr txBox="1"/>
          <p:nvPr/>
        </p:nvSpPr>
        <p:spPr>
          <a:xfrm>
            <a:off x="3547872" y="5687568"/>
            <a:ext cx="118872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650" b="0" i="0">
                <a:solidFill>
                  <a:srgbClr val="64748B"/>
                </a:solidFill>
                <a:latin typeface="JetBrains Mono"/>
              </a:rPr>
              <a:t>AUDIT FINDING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4553712" y="5669280"/>
            <a:ext cx="132588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850" b="1" i="0">
                <a:solidFill>
                  <a:srgbClr val="E11D48"/>
                </a:solidFill>
                <a:latin typeface="JetBrains Mono"/>
              </a:rPr>
              <a:t>70% RF/GPS Disconnect</a:t>
            </a:r>
          </a:p>
        </p:txBody>
      </p:sp>
      <p:sp>
        <p:nvSpPr>
          <p:cNvPr id="154" name="Rounded Rectangle 153"/>
          <p:cNvSpPr/>
          <p:nvPr/>
        </p:nvSpPr>
        <p:spPr>
          <a:xfrm>
            <a:off x="6181344" y="5623560"/>
            <a:ext cx="2542032" cy="438912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4E4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TextBox 154"/>
          <p:cNvSpPr txBox="1"/>
          <p:nvPr/>
        </p:nvSpPr>
        <p:spPr>
          <a:xfrm>
            <a:off x="6272784" y="5687568"/>
            <a:ext cx="118872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650" b="0" i="0">
                <a:solidFill>
                  <a:srgbClr val="64748B"/>
                </a:solidFill>
                <a:latin typeface="JetBrains Mono"/>
              </a:rPr>
              <a:t>COST PENALTY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278624" y="5669280"/>
            <a:ext cx="132588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850" b="1" i="0">
                <a:solidFill>
                  <a:srgbClr val="09090B"/>
                </a:solidFill>
                <a:latin typeface="JetBrains Mono"/>
              </a:rPr>
              <a:t>₹40L Military Airframes</a:t>
            </a:r>
          </a:p>
        </p:txBody>
      </p:sp>
      <p:sp>
        <p:nvSpPr>
          <p:cNvPr id="157" name="Rounded Rectangle 156"/>
          <p:cNvSpPr/>
          <p:nvPr/>
        </p:nvSpPr>
        <p:spPr>
          <a:xfrm>
            <a:off x="8906256" y="5623560"/>
            <a:ext cx="2542032" cy="438912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4E4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TextBox 157"/>
          <p:cNvSpPr txBox="1"/>
          <p:nvPr/>
        </p:nvSpPr>
        <p:spPr>
          <a:xfrm>
            <a:off x="8997696" y="5687568"/>
            <a:ext cx="118872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650" b="0" i="0">
                <a:solidFill>
                  <a:srgbClr val="64748B"/>
                </a:solidFill>
                <a:latin typeface="JetBrains Mono"/>
              </a:rPr>
              <a:t>SURVIVOR RISK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10003536" y="5669280"/>
            <a:ext cx="132588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850" b="1" i="0">
                <a:solidFill>
                  <a:srgbClr val="E11D48"/>
                </a:solidFill>
                <a:latin typeface="JetBrains Mono"/>
              </a:rPr>
              <a:t>412% Disaster Surge</a:t>
            </a:r>
          </a:p>
        </p:txBody>
      </p:sp>
      <p:sp>
        <p:nvSpPr>
          <p:cNvPr id="160" name="Rectangle 159"/>
          <p:cNvSpPr/>
          <p:nvPr/>
        </p:nvSpPr>
        <p:spPr>
          <a:xfrm>
            <a:off x="731520" y="6172200"/>
            <a:ext cx="10728655" cy="13716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TextBox 160"/>
          <p:cNvSpPr txBox="1"/>
          <p:nvPr/>
        </p:nvSpPr>
        <p:spPr>
          <a:xfrm>
            <a:off x="731520" y="6263640"/>
            <a:ext cx="2743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00" b="0" i="0">
                <a:solidFill>
                  <a:srgbClr val="64748B"/>
                </a:solidFill>
                <a:latin typeface="JetBrains Mono"/>
              </a:rPr>
              <a:t>PAGE 02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0" y="6263640"/>
            <a:ext cx="4602175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900" b="1" i="0">
                <a:solidFill>
                  <a:srgbClr val="0A1628"/>
                </a:solidFill>
                <a:latin typeface="JetBrains Mono"/>
              </a:rPr>
              <a:t>TEAM OFFGRID — PROJECT SUTRA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0"/>
            <a:ext cx="7315" cy="6858000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14400" y="0"/>
            <a:ext cx="7315" cy="6858000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371600" y="0"/>
            <a:ext cx="7315" cy="6858000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828800" y="0"/>
            <a:ext cx="7315" cy="6858000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286000" y="0"/>
            <a:ext cx="7315" cy="6858000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0" y="0"/>
            <a:ext cx="7315" cy="6858000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200400" y="0"/>
            <a:ext cx="7315" cy="6858000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657600" y="0"/>
            <a:ext cx="7315" cy="6858000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114800" y="0"/>
            <a:ext cx="7315" cy="6858000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0" y="0"/>
            <a:ext cx="7315" cy="6858000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029200" y="0"/>
            <a:ext cx="7315" cy="6858000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486400" y="0"/>
            <a:ext cx="7315" cy="6858000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943600" y="0"/>
            <a:ext cx="7315" cy="6858000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0" y="0"/>
            <a:ext cx="7315" cy="6858000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858000" y="0"/>
            <a:ext cx="7315" cy="6858000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315200" y="0"/>
            <a:ext cx="7315" cy="6858000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772400" y="0"/>
            <a:ext cx="7315" cy="6858000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229600" y="0"/>
            <a:ext cx="7315" cy="6858000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686800" y="0"/>
            <a:ext cx="7315" cy="6858000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144000" y="0"/>
            <a:ext cx="7315" cy="6858000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9601200" y="0"/>
            <a:ext cx="7315" cy="6858000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0058400" y="0"/>
            <a:ext cx="7315" cy="6858000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10515600" y="0"/>
            <a:ext cx="7315" cy="6858000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0972800" y="0"/>
            <a:ext cx="7315" cy="6858000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1430000" y="0"/>
            <a:ext cx="7315" cy="6858000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0" y="457200"/>
            <a:ext cx="12191695" cy="7315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0" y="914400"/>
            <a:ext cx="12191695" cy="7315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0" y="1371600"/>
            <a:ext cx="12191695" cy="7315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0" y="1828800"/>
            <a:ext cx="12191695" cy="7315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0" y="2286000"/>
            <a:ext cx="12191695" cy="7315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0" y="2743200"/>
            <a:ext cx="12191695" cy="7315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0" y="3200400"/>
            <a:ext cx="12191695" cy="7315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0" y="3657600"/>
            <a:ext cx="12191695" cy="7315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0" y="4114800"/>
            <a:ext cx="12191695" cy="7315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0" y="4572000"/>
            <a:ext cx="12191695" cy="7315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0" y="5029200"/>
            <a:ext cx="12191695" cy="7315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0" y="5486400"/>
            <a:ext cx="12191695" cy="7315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0" y="5943600"/>
            <a:ext cx="12191695" cy="7315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0" y="6400800"/>
            <a:ext cx="12191695" cy="7315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731520" y="438912"/>
            <a:ext cx="73152" cy="274320"/>
          </a:xfrm>
          <a:prstGeom prst="roundRect">
            <a:avLst/>
          </a:prstGeom>
          <a:solidFill>
            <a:srgbClr val="0909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77824" y="45720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 i="0">
                <a:solidFill>
                  <a:srgbClr val="09090B"/>
                </a:solidFill>
                <a:latin typeface="JetBrains Mono"/>
              </a:rPr>
              <a:t>THE SOLUTION — 4 CORE SUBSYSTEM MOATS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8961120" y="438912"/>
            <a:ext cx="2468880" cy="274320"/>
          </a:xfrm>
          <a:prstGeom prst="roundRect">
            <a:avLst/>
          </a:prstGeom>
          <a:solidFill>
            <a:srgbClr val="ECFDF5"/>
          </a:solidFill>
          <a:ln w="12700">
            <a:solidFill>
              <a:srgbClr val="A7F3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9098280" y="530352"/>
            <a:ext cx="73152" cy="73152"/>
          </a:xfrm>
          <a:prstGeom prst="ellipse">
            <a:avLst/>
          </a:prstGeom>
          <a:solidFill>
            <a:srgbClr val="0478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9235440" y="475488"/>
            <a:ext cx="210312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750" b="1" i="0">
                <a:solidFill>
                  <a:srgbClr val="047857"/>
                </a:solidFill>
                <a:latin typeface="JetBrains Mono"/>
              </a:rPr>
              <a:t>SWARM ARCHITECTURE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31520" y="868680"/>
            <a:ext cx="685800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100" b="1" i="0">
                <a:solidFill>
                  <a:srgbClr val="09090B"/>
                </a:solidFill>
                <a:latin typeface="Space Grotesk"/>
              </a:rPr>
              <a:t>AI Swarm Drones Find Survivors 3-4x Faster Than Traditional SAR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7589520" y="960120"/>
            <a:ext cx="960120" cy="2743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4E4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589520" y="1005840"/>
            <a:ext cx="96012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600" b="1" i="0">
                <a:solidFill>
                  <a:srgbClr val="475569"/>
                </a:solidFill>
                <a:latin typeface="JetBrains Mono"/>
              </a:rPr>
              <a:t>10-18 MIN/MI²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8595360" y="960120"/>
            <a:ext cx="960120" cy="274320"/>
          </a:xfrm>
          <a:prstGeom prst="roundRect">
            <a:avLst/>
          </a:prstGeom>
          <a:solidFill>
            <a:srgbClr val="ECFDF5"/>
          </a:solidFill>
          <a:ln w="12700">
            <a:solidFill>
              <a:srgbClr val="E4E4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8595360" y="1005840"/>
            <a:ext cx="96012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600" b="1" i="0">
                <a:solidFill>
                  <a:srgbClr val="047857"/>
                </a:solidFill>
                <a:latin typeface="JetBrains Mono"/>
              </a:rPr>
              <a:t>78-85% DETECTION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9601200" y="960120"/>
            <a:ext cx="960120" cy="2743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4E4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9601200" y="1005840"/>
            <a:ext cx="96012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600" b="1" i="0">
                <a:solidFill>
                  <a:srgbClr val="475569"/>
                </a:solidFill>
                <a:latin typeface="JetBrains Mono"/>
              </a:rPr>
              <a:t>12% FALSE ALARMS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10607040" y="960120"/>
            <a:ext cx="960120" cy="274320"/>
          </a:xfrm>
          <a:prstGeom prst="roundRect">
            <a:avLst/>
          </a:prstGeom>
          <a:solidFill>
            <a:srgbClr val="ECFDF5"/>
          </a:solidFill>
          <a:ln w="12700">
            <a:solidFill>
              <a:srgbClr val="E4E4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10607040" y="1005840"/>
            <a:ext cx="96012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600" b="1" i="0">
                <a:solidFill>
                  <a:srgbClr val="047857"/>
                </a:solidFill>
                <a:latin typeface="JetBrains Mono"/>
              </a:rPr>
              <a:t>₹95,000 SORTIE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731520" y="1536192"/>
            <a:ext cx="2542032" cy="397763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4E4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841248" y="1645920"/>
            <a:ext cx="118872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700" b="1" i="0">
                <a:solidFill>
                  <a:srgbClr val="94A3B8"/>
                </a:solidFill>
                <a:latin typeface="JetBrains Mono"/>
              </a:rPr>
              <a:t>SUBSYSTEM A // GNC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2057400" y="1627632"/>
            <a:ext cx="1097280" cy="201168"/>
          </a:xfrm>
          <a:prstGeom prst="roundRect">
            <a:avLst/>
          </a:prstGeom>
          <a:solidFill>
            <a:srgbClr val="ECFDF5"/>
          </a:solidFill>
          <a:ln w="12700">
            <a:solidFill>
              <a:srgbClr val="A7F3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2057400" y="1645920"/>
            <a:ext cx="109728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650" b="1" i="0">
                <a:solidFill>
                  <a:srgbClr val="047857"/>
                </a:solidFill>
                <a:latin typeface="JetBrains Mono"/>
              </a:rPr>
              <a:t>50Hz OFFBOARD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41248" y="1883664"/>
            <a:ext cx="2322576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 i="0">
                <a:solidFill>
                  <a:srgbClr val="09090B"/>
                </a:solidFill>
                <a:latin typeface="Space Grotesk"/>
              </a:rPr>
              <a:t>SUTRA-FSD GNC &amp; 3D ORCA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841248" y="2359152"/>
            <a:ext cx="2322576" cy="594360"/>
          </a:xfrm>
          <a:prstGeom prst="roundRect">
            <a:avLst/>
          </a:prstGeom>
          <a:solidFill>
            <a:srgbClr val="FEF2F2"/>
          </a:solidFill>
          <a:ln w="12700">
            <a:solidFill>
              <a:srgbClr val="FECD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896112" y="2395728"/>
            <a:ext cx="2212848" cy="1645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600" b="1" i="0">
                <a:solidFill>
                  <a:srgbClr val="E11D48"/>
                </a:solidFill>
                <a:latin typeface="JetBrains Mono"/>
              </a:rPr>
              <a:t>SOLVES PROBLEM VOID: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896112" y="2560320"/>
            <a:ext cx="2212848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750" b="1" i="0">
                <a:solidFill>
                  <a:srgbClr val="09090B"/>
                </a:solidFill>
                <a:latin typeface="Inter"/>
              </a:rPr>
              <a:t>Canopy GPS Multi-Path Drift &amp; Crashes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841248" y="3044952"/>
            <a:ext cx="2322576" cy="13258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4E4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896112" y="3090672"/>
            <a:ext cx="2212848" cy="1645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650" b="1" i="0">
                <a:solidFill>
                  <a:srgbClr val="047857"/>
                </a:solidFill>
                <a:latin typeface="JetBrains Mono"/>
              </a:rPr>
              <a:t>SOLUTIONAL MOAT: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96112" y="3291840"/>
            <a:ext cx="2212848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720" b="0" i="0">
                <a:solidFill>
                  <a:srgbClr val="475569"/>
                </a:solidFill>
                <a:latin typeface="JetBrains Mono"/>
              </a:rPr>
              <a:t>Decentralized 3D velocity obstacle collision avoidance + PX4 MicroXRCE 50Hz offboard setpoint streaming.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841248" y="4462272"/>
            <a:ext cx="1115568" cy="5029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4E4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841248" y="4498848"/>
            <a:ext cx="1115568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950" b="1" i="0">
                <a:solidFill>
                  <a:srgbClr val="09090B"/>
                </a:solidFill>
                <a:latin typeface="JetBrains Mono"/>
              </a:rPr>
              <a:t>0.05s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41248" y="4754880"/>
            <a:ext cx="1115568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600" b="0" i="0">
                <a:solidFill>
                  <a:srgbClr val="64748B"/>
                </a:solidFill>
                <a:latin typeface="JetBrains Mono"/>
              </a:rPr>
              <a:t>Latency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2048256" y="4462272"/>
            <a:ext cx="1115568" cy="5029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4E4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2048256" y="4498848"/>
            <a:ext cx="1115568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950" b="1" i="0">
                <a:solidFill>
                  <a:srgbClr val="047857"/>
                </a:solidFill>
                <a:latin typeface="JetBrains Mono"/>
              </a:rPr>
              <a:t>0 Tower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2048256" y="4754880"/>
            <a:ext cx="1115568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600" b="0" i="0">
                <a:solidFill>
                  <a:srgbClr val="64748B"/>
                </a:solidFill>
                <a:latin typeface="JetBrains Mono"/>
              </a:rPr>
              <a:t>Reliance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41248" y="5102352"/>
            <a:ext cx="118872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600" b="0" i="0">
                <a:solidFill>
                  <a:srgbClr val="64748B"/>
                </a:solidFill>
                <a:latin typeface="JetBrains Mono"/>
              </a:rPr>
              <a:t>DECENTRALIZED VIO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1965960" y="5102352"/>
            <a:ext cx="118872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600" b="1" i="0">
                <a:solidFill>
                  <a:srgbClr val="09090B"/>
                </a:solidFill>
                <a:latin typeface="JetBrains Mono"/>
              </a:rPr>
              <a:t>50Hz RATE</a:t>
            </a:r>
          </a:p>
        </p:txBody>
      </p:sp>
      <p:sp>
        <p:nvSpPr>
          <p:cNvPr id="75" name="Rectangle 74"/>
          <p:cNvSpPr/>
          <p:nvPr/>
        </p:nvSpPr>
        <p:spPr>
          <a:xfrm>
            <a:off x="731520" y="5477255"/>
            <a:ext cx="2542032" cy="36576"/>
          </a:xfrm>
          <a:prstGeom prst="rect">
            <a:avLst/>
          </a:prstGeom>
          <a:solidFill>
            <a:srgbClr val="0478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ounded Rectangle 75"/>
          <p:cNvSpPr/>
          <p:nvPr/>
        </p:nvSpPr>
        <p:spPr>
          <a:xfrm>
            <a:off x="3456432" y="1536192"/>
            <a:ext cx="2542032" cy="397763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4E4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3566160" y="1645920"/>
            <a:ext cx="118872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700" b="1" i="0">
                <a:solidFill>
                  <a:srgbClr val="94A3B8"/>
                </a:solidFill>
                <a:latin typeface="JetBrains Mono"/>
              </a:rPr>
              <a:t>SUBSYSTEM B // COMMS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4782312" y="1627632"/>
            <a:ext cx="1097280" cy="201168"/>
          </a:xfrm>
          <a:prstGeom prst="roundRect">
            <a:avLst/>
          </a:prstGeom>
          <a:solidFill>
            <a:srgbClr val="ECFDF5"/>
          </a:solidFill>
          <a:ln w="12700">
            <a:solidFill>
              <a:srgbClr val="A7F3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4782312" y="1645920"/>
            <a:ext cx="109728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650" b="1" i="0">
                <a:solidFill>
                  <a:srgbClr val="047857"/>
                </a:solidFill>
                <a:latin typeface="JetBrains Mono"/>
              </a:rPr>
              <a:t>-5dB RESILIENT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566160" y="1883664"/>
            <a:ext cx="2322576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 i="0">
                <a:solidFill>
                  <a:srgbClr val="09090B"/>
                </a:solidFill>
                <a:latin typeface="Space Grotesk"/>
              </a:rPr>
              <a:t>Deep JSCC Neural Video</a:t>
            </a:r>
          </a:p>
        </p:txBody>
      </p:sp>
      <p:sp>
        <p:nvSpPr>
          <p:cNvPr id="81" name="Rounded Rectangle 80"/>
          <p:cNvSpPr/>
          <p:nvPr/>
        </p:nvSpPr>
        <p:spPr>
          <a:xfrm>
            <a:off x="3566160" y="2359152"/>
            <a:ext cx="2322576" cy="594360"/>
          </a:xfrm>
          <a:prstGeom prst="roundRect">
            <a:avLst/>
          </a:prstGeom>
          <a:solidFill>
            <a:srgbClr val="FEF2F2"/>
          </a:solidFill>
          <a:ln w="12700">
            <a:solidFill>
              <a:srgbClr val="FECD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3621024" y="2395728"/>
            <a:ext cx="2212848" cy="1645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600" b="1" i="0">
                <a:solidFill>
                  <a:srgbClr val="E11D48"/>
                </a:solidFill>
                <a:latin typeface="JetBrains Mono"/>
              </a:rPr>
              <a:t>SOLVES PROBLEM VOID: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3621024" y="2560320"/>
            <a:ext cx="2212848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750" b="1" i="0">
                <a:solidFill>
                  <a:srgbClr val="09090B"/>
                </a:solidFill>
                <a:latin typeface="Inter"/>
              </a:rPr>
              <a:t>Mountain Ravine RF Ridge Blackout</a:t>
            </a:r>
          </a:p>
        </p:txBody>
      </p:sp>
      <p:sp>
        <p:nvSpPr>
          <p:cNvPr id="84" name="Rounded Rectangle 83"/>
          <p:cNvSpPr/>
          <p:nvPr/>
        </p:nvSpPr>
        <p:spPr>
          <a:xfrm>
            <a:off x="3566160" y="3044952"/>
            <a:ext cx="2322576" cy="13258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4E4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3621024" y="3090672"/>
            <a:ext cx="2212848" cy="1645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650" b="1" i="0">
                <a:solidFill>
                  <a:srgbClr val="047857"/>
                </a:solidFill>
                <a:latin typeface="JetBrains Mono"/>
              </a:rPr>
              <a:t>SOLUTIONAL MOAT: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3621024" y="3291840"/>
            <a:ext cx="2212848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720" b="0" i="0">
                <a:solidFill>
                  <a:srgbClr val="475569"/>
                </a:solidFill>
                <a:latin typeface="JetBrains Mono"/>
              </a:rPr>
              <a:t>Differentiable joint source-channel coding yielding zero digital cliff and graceful video degradation down to -5dB.</a:t>
            </a:r>
          </a:p>
        </p:txBody>
      </p:sp>
      <p:sp>
        <p:nvSpPr>
          <p:cNvPr id="87" name="Rounded Rectangle 86"/>
          <p:cNvSpPr/>
          <p:nvPr/>
        </p:nvSpPr>
        <p:spPr>
          <a:xfrm>
            <a:off x="3566160" y="4462272"/>
            <a:ext cx="1115568" cy="5029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4E4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3566160" y="4498848"/>
            <a:ext cx="1115568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950" b="1" i="0">
                <a:solidFill>
                  <a:srgbClr val="09090B"/>
                </a:solidFill>
                <a:latin typeface="JetBrains Mono"/>
              </a:rPr>
              <a:t>-5dB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3566160" y="4754880"/>
            <a:ext cx="1115568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600" b="0" i="0">
                <a:solidFill>
                  <a:srgbClr val="64748B"/>
                </a:solidFill>
                <a:latin typeface="JetBrains Mono"/>
              </a:rPr>
              <a:t>SNR Thresh</a:t>
            </a:r>
          </a:p>
        </p:txBody>
      </p:sp>
      <p:sp>
        <p:nvSpPr>
          <p:cNvPr id="90" name="Rounded Rectangle 89"/>
          <p:cNvSpPr/>
          <p:nvPr/>
        </p:nvSpPr>
        <p:spPr>
          <a:xfrm>
            <a:off x="4773168" y="4462272"/>
            <a:ext cx="1115568" cy="5029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4E4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4773168" y="4498848"/>
            <a:ext cx="1115568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950" b="1" i="0">
                <a:solidFill>
                  <a:srgbClr val="047857"/>
                </a:solidFill>
                <a:latin typeface="JetBrains Mono"/>
              </a:rPr>
              <a:t>0 Cliff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4773168" y="4754880"/>
            <a:ext cx="1115568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600" b="0" i="0">
                <a:solidFill>
                  <a:srgbClr val="64748B"/>
                </a:solidFill>
                <a:latin typeface="JetBrains Mono"/>
              </a:rPr>
              <a:t>Degradation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3566160" y="5102352"/>
            <a:ext cx="118872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600" b="0" i="0">
                <a:solidFill>
                  <a:srgbClr val="64748B"/>
                </a:solidFill>
                <a:latin typeface="JetBrains Mono"/>
              </a:rPr>
              <a:t>SEMANTIC COMMS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4690872" y="5102352"/>
            <a:ext cx="118872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600" b="1" i="0">
                <a:solidFill>
                  <a:srgbClr val="09090B"/>
                </a:solidFill>
                <a:latin typeface="JetBrains Mono"/>
              </a:rPr>
              <a:t>EDGE TPU</a:t>
            </a:r>
          </a:p>
        </p:txBody>
      </p:sp>
      <p:sp>
        <p:nvSpPr>
          <p:cNvPr id="95" name="Rectangle 94"/>
          <p:cNvSpPr/>
          <p:nvPr/>
        </p:nvSpPr>
        <p:spPr>
          <a:xfrm>
            <a:off x="3456432" y="5477255"/>
            <a:ext cx="2542032" cy="36576"/>
          </a:xfrm>
          <a:prstGeom prst="rect">
            <a:avLst/>
          </a:prstGeom>
          <a:solidFill>
            <a:srgbClr val="0909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ounded Rectangle 95"/>
          <p:cNvSpPr/>
          <p:nvPr/>
        </p:nvSpPr>
        <p:spPr>
          <a:xfrm>
            <a:off x="6181344" y="1536192"/>
            <a:ext cx="2542032" cy="397763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4E4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6291072" y="1645920"/>
            <a:ext cx="118872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700" b="1" i="0">
                <a:solidFill>
                  <a:srgbClr val="94A3B8"/>
                </a:solidFill>
                <a:latin typeface="JetBrains Mono"/>
              </a:rPr>
              <a:t>SUBSYSTEM C // VISION</a:t>
            </a:r>
          </a:p>
        </p:txBody>
      </p:sp>
      <p:sp>
        <p:nvSpPr>
          <p:cNvPr id="98" name="Rounded Rectangle 97"/>
          <p:cNvSpPr/>
          <p:nvPr/>
        </p:nvSpPr>
        <p:spPr>
          <a:xfrm>
            <a:off x="7507224" y="1627632"/>
            <a:ext cx="1097280" cy="201168"/>
          </a:xfrm>
          <a:prstGeom prst="roundRect">
            <a:avLst/>
          </a:prstGeom>
          <a:solidFill>
            <a:srgbClr val="ECFDF5"/>
          </a:solidFill>
          <a:ln w="12700">
            <a:solidFill>
              <a:srgbClr val="A7F3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7507224" y="1645920"/>
            <a:ext cx="109728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650" b="1" i="0">
                <a:solidFill>
                  <a:srgbClr val="047857"/>
                </a:solidFill>
                <a:latin typeface="JetBrains Mono"/>
              </a:rPr>
              <a:t>3.59cm ACCURACY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6291072" y="1883664"/>
            <a:ext cx="2322576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 i="0">
                <a:solidFill>
                  <a:srgbClr val="09090B"/>
                </a:solidFill>
                <a:latin typeface="Space Grotesk"/>
              </a:rPr>
              <a:t>Tri-Modal AI &amp; 3D Geolocation</a:t>
            </a:r>
          </a:p>
        </p:txBody>
      </p:sp>
      <p:sp>
        <p:nvSpPr>
          <p:cNvPr id="101" name="Rounded Rectangle 100"/>
          <p:cNvSpPr/>
          <p:nvPr/>
        </p:nvSpPr>
        <p:spPr>
          <a:xfrm>
            <a:off x="6291072" y="2359152"/>
            <a:ext cx="2322576" cy="594360"/>
          </a:xfrm>
          <a:prstGeom prst="roundRect">
            <a:avLst/>
          </a:prstGeom>
          <a:solidFill>
            <a:srgbClr val="FEF2F2"/>
          </a:solidFill>
          <a:ln w="12700">
            <a:solidFill>
              <a:srgbClr val="FECD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6345936" y="2395728"/>
            <a:ext cx="2212848" cy="1645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600" b="1" i="0">
                <a:solidFill>
                  <a:srgbClr val="E11D48"/>
                </a:solidFill>
                <a:latin typeface="JetBrains Mono"/>
              </a:rPr>
              <a:t>SOLVES PROBLEM VOID: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6345936" y="2560320"/>
            <a:ext cx="2212848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750" b="1" i="0">
                <a:solidFill>
                  <a:srgbClr val="09090B"/>
                </a:solidFill>
                <a:latin typeface="Inter"/>
              </a:rPr>
              <a:t>Smoke Blindspots &amp; 15-30m Slope Drift</a:t>
            </a:r>
          </a:p>
        </p:txBody>
      </p:sp>
      <p:sp>
        <p:nvSpPr>
          <p:cNvPr id="104" name="Rounded Rectangle 103"/>
          <p:cNvSpPr/>
          <p:nvPr/>
        </p:nvSpPr>
        <p:spPr>
          <a:xfrm>
            <a:off x="6291072" y="3044952"/>
            <a:ext cx="2322576" cy="13258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4E4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45936" y="3090672"/>
            <a:ext cx="2212848" cy="1645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650" b="1" i="0">
                <a:solidFill>
                  <a:srgbClr val="047857"/>
                </a:solidFill>
                <a:latin typeface="JetBrains Mono"/>
              </a:rPr>
              <a:t>SOLUTIONAL MOAT: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6345936" y="3291840"/>
            <a:ext cx="2212848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720" b="0" i="0">
                <a:solidFill>
                  <a:srgbClr val="475569"/>
                </a:solidFill>
                <a:latin typeface="JetBrains Mono"/>
              </a:rPr>
              <a:t>Cross-attention fusion (RGB + FLIR Thermal + Radar) + 3D DEM elevation raycasting on Jetson Orin for 3.59cm GPS accuracy.</a:t>
            </a:r>
          </a:p>
        </p:txBody>
      </p:sp>
      <p:sp>
        <p:nvSpPr>
          <p:cNvPr id="107" name="Rounded Rectangle 106"/>
          <p:cNvSpPr/>
          <p:nvPr/>
        </p:nvSpPr>
        <p:spPr>
          <a:xfrm>
            <a:off x="6291072" y="4462272"/>
            <a:ext cx="1115568" cy="5029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4E4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6291072" y="4498848"/>
            <a:ext cx="1115568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950" b="1" i="0">
                <a:solidFill>
                  <a:srgbClr val="09090B"/>
                </a:solidFill>
                <a:latin typeface="JetBrains Mono"/>
              </a:rPr>
              <a:t>&lt;15ms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6291072" y="4754880"/>
            <a:ext cx="1115568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600" b="0" i="0">
                <a:solidFill>
                  <a:srgbClr val="64748B"/>
                </a:solidFill>
                <a:latin typeface="JetBrains Mono"/>
              </a:rPr>
              <a:t>Inference</a:t>
            </a:r>
          </a:p>
        </p:txBody>
      </p:sp>
      <p:sp>
        <p:nvSpPr>
          <p:cNvPr id="110" name="Rounded Rectangle 109"/>
          <p:cNvSpPr/>
          <p:nvPr/>
        </p:nvSpPr>
        <p:spPr>
          <a:xfrm>
            <a:off x="7498080" y="4462272"/>
            <a:ext cx="1115568" cy="5029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4E4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7498080" y="4498848"/>
            <a:ext cx="1115568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950" b="1" i="0">
                <a:solidFill>
                  <a:srgbClr val="047857"/>
                </a:solidFill>
                <a:latin typeface="JetBrains Mono"/>
              </a:rPr>
              <a:t>3.59cm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7498080" y="4754880"/>
            <a:ext cx="1115568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600" b="0" i="0">
                <a:solidFill>
                  <a:srgbClr val="64748B"/>
                </a:solidFill>
                <a:latin typeface="JetBrains Mono"/>
              </a:rPr>
              <a:t>Geo Error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6291072" y="5102352"/>
            <a:ext cx="118872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600" b="0" i="0">
                <a:solidFill>
                  <a:srgbClr val="64748B"/>
                </a:solidFill>
                <a:latin typeface="JetBrains Mono"/>
              </a:rPr>
              <a:t>TRI-MODAL FUSED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7415784" y="5102352"/>
            <a:ext cx="118872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600" b="1" i="0">
                <a:solidFill>
                  <a:srgbClr val="09090B"/>
                </a:solidFill>
                <a:latin typeface="JetBrains Mono"/>
              </a:rPr>
              <a:t>JETSON ORIN</a:t>
            </a:r>
          </a:p>
        </p:txBody>
      </p:sp>
      <p:sp>
        <p:nvSpPr>
          <p:cNvPr id="115" name="Rectangle 114"/>
          <p:cNvSpPr/>
          <p:nvPr/>
        </p:nvSpPr>
        <p:spPr>
          <a:xfrm>
            <a:off x="6181344" y="5477255"/>
            <a:ext cx="2542032" cy="36576"/>
          </a:xfrm>
          <a:prstGeom prst="rect">
            <a:avLst/>
          </a:prstGeom>
          <a:solidFill>
            <a:srgbClr val="0478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Rounded Rectangle 115"/>
          <p:cNvSpPr/>
          <p:nvPr/>
        </p:nvSpPr>
        <p:spPr>
          <a:xfrm>
            <a:off x="8906256" y="1536192"/>
            <a:ext cx="2542032" cy="397763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4E4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9015984" y="1645920"/>
            <a:ext cx="118872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700" b="1" i="0">
                <a:solidFill>
                  <a:srgbClr val="94A3B8"/>
                </a:solidFill>
                <a:latin typeface="JetBrains Mono"/>
              </a:rPr>
              <a:t>SUBSYSTEM D // C2 GCS</a:t>
            </a:r>
          </a:p>
        </p:txBody>
      </p:sp>
      <p:sp>
        <p:nvSpPr>
          <p:cNvPr id="118" name="Rounded Rectangle 117"/>
          <p:cNvSpPr/>
          <p:nvPr/>
        </p:nvSpPr>
        <p:spPr>
          <a:xfrm>
            <a:off x="10232136" y="1627632"/>
            <a:ext cx="1097280" cy="201168"/>
          </a:xfrm>
          <a:prstGeom prst="roundRect">
            <a:avLst/>
          </a:prstGeom>
          <a:solidFill>
            <a:srgbClr val="ECFDF5"/>
          </a:solidFill>
          <a:ln w="12700">
            <a:solidFill>
              <a:srgbClr val="A7F3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10232136" y="1645920"/>
            <a:ext cx="109728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650" b="1" i="0">
                <a:solidFill>
                  <a:srgbClr val="047857"/>
                </a:solidFill>
                <a:latin typeface="JetBrains Mono"/>
              </a:rPr>
              <a:t>1-2 OPERATORS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9015984" y="1883664"/>
            <a:ext cx="2322576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 i="0">
                <a:solidFill>
                  <a:srgbClr val="09090B"/>
                </a:solidFill>
                <a:latin typeface="Space Grotesk"/>
              </a:rPr>
              <a:t>Pegasus 3D WebGPU GCS</a:t>
            </a:r>
          </a:p>
        </p:txBody>
      </p:sp>
      <p:sp>
        <p:nvSpPr>
          <p:cNvPr id="121" name="Rounded Rectangle 120"/>
          <p:cNvSpPr/>
          <p:nvPr/>
        </p:nvSpPr>
        <p:spPr>
          <a:xfrm>
            <a:off x="9015984" y="2359152"/>
            <a:ext cx="2322576" cy="594360"/>
          </a:xfrm>
          <a:prstGeom prst="roundRect">
            <a:avLst/>
          </a:prstGeom>
          <a:solidFill>
            <a:srgbClr val="FEF2F2"/>
          </a:solidFill>
          <a:ln w="12700">
            <a:solidFill>
              <a:srgbClr val="FECD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TextBox 121"/>
          <p:cNvSpPr txBox="1"/>
          <p:nvPr/>
        </p:nvSpPr>
        <p:spPr>
          <a:xfrm>
            <a:off x="9070848" y="2395728"/>
            <a:ext cx="2212848" cy="1645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600" b="1" i="0">
                <a:solidFill>
                  <a:srgbClr val="E11D48"/>
                </a:solidFill>
                <a:latin typeface="JetBrains Mono"/>
              </a:rPr>
              <a:t>SOLVES PROBLEM VOID: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9070848" y="2560320"/>
            <a:ext cx="2212848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750" b="1" i="0">
                <a:solidFill>
                  <a:srgbClr val="09090B"/>
                </a:solidFill>
                <a:latin typeface="Inter"/>
              </a:rPr>
              <a:t>15-25 Ground Crew Cognitive Overload</a:t>
            </a:r>
          </a:p>
        </p:txBody>
      </p:sp>
      <p:sp>
        <p:nvSpPr>
          <p:cNvPr id="124" name="Rounded Rectangle 123"/>
          <p:cNvSpPr/>
          <p:nvPr/>
        </p:nvSpPr>
        <p:spPr>
          <a:xfrm>
            <a:off x="9015984" y="3044952"/>
            <a:ext cx="2322576" cy="13258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4E4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9070848" y="3090672"/>
            <a:ext cx="2212848" cy="1645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650" b="1" i="0">
                <a:solidFill>
                  <a:srgbClr val="047857"/>
                </a:solidFill>
                <a:latin typeface="JetBrains Mono"/>
              </a:rPr>
              <a:t>SOLUTIONAL MOAT: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9070848" y="3291840"/>
            <a:ext cx="2212848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720" b="0" i="0">
                <a:solidFill>
                  <a:srgbClr val="475569"/>
                </a:solidFill>
                <a:latin typeface="JetBrains Mono"/>
              </a:rPr>
              <a:t>Offline tactical 3D digital twin + ATAK plugin, empowering 1-2 operators to orchestrate full drone swarms.</a:t>
            </a:r>
          </a:p>
        </p:txBody>
      </p:sp>
      <p:sp>
        <p:nvSpPr>
          <p:cNvPr id="127" name="Rounded Rectangle 126"/>
          <p:cNvSpPr/>
          <p:nvPr/>
        </p:nvSpPr>
        <p:spPr>
          <a:xfrm>
            <a:off x="9015984" y="4462272"/>
            <a:ext cx="1115568" cy="5029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4E4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TextBox 127"/>
          <p:cNvSpPr txBox="1"/>
          <p:nvPr/>
        </p:nvSpPr>
        <p:spPr>
          <a:xfrm>
            <a:off x="9015984" y="4498848"/>
            <a:ext cx="1115568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950" b="1" i="0">
                <a:solidFill>
                  <a:srgbClr val="09090B"/>
                </a:solidFill>
                <a:latin typeface="JetBrains Mono"/>
              </a:rPr>
              <a:t>1-2 Ops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9015984" y="4754880"/>
            <a:ext cx="1115568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600" b="0" i="0">
                <a:solidFill>
                  <a:srgbClr val="64748B"/>
                </a:solidFill>
                <a:latin typeface="JetBrains Mono"/>
              </a:rPr>
              <a:t>Crew Size</a:t>
            </a:r>
          </a:p>
        </p:txBody>
      </p:sp>
      <p:sp>
        <p:nvSpPr>
          <p:cNvPr id="130" name="Rounded Rectangle 129"/>
          <p:cNvSpPr/>
          <p:nvPr/>
        </p:nvSpPr>
        <p:spPr>
          <a:xfrm>
            <a:off x="10222992" y="4462272"/>
            <a:ext cx="1115568" cy="5029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4E4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10222992" y="4498848"/>
            <a:ext cx="1115568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950" b="1" i="0">
                <a:solidFill>
                  <a:srgbClr val="047857"/>
                </a:solidFill>
                <a:latin typeface="JetBrains Mono"/>
              </a:rPr>
              <a:t>100%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10222992" y="4754880"/>
            <a:ext cx="1115568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600" b="0" i="0">
                <a:solidFill>
                  <a:srgbClr val="64748B"/>
                </a:solidFill>
                <a:latin typeface="JetBrains Mono"/>
              </a:rPr>
              <a:t>Offline ATAK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9015984" y="5102352"/>
            <a:ext cx="118872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600" b="0" i="0">
                <a:solidFill>
                  <a:srgbClr val="64748B"/>
                </a:solidFill>
                <a:latin typeface="JetBrains Mono"/>
              </a:rPr>
              <a:t>ATAK INTEGRATION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0140696" y="5102352"/>
            <a:ext cx="118872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600" b="1" i="0">
                <a:solidFill>
                  <a:srgbClr val="09090B"/>
                </a:solidFill>
                <a:latin typeface="JetBrains Mono"/>
              </a:rPr>
              <a:t>WEBGPU 3D</a:t>
            </a:r>
          </a:p>
        </p:txBody>
      </p:sp>
      <p:sp>
        <p:nvSpPr>
          <p:cNvPr id="135" name="Rectangle 134"/>
          <p:cNvSpPr/>
          <p:nvPr/>
        </p:nvSpPr>
        <p:spPr>
          <a:xfrm>
            <a:off x="8906256" y="5477255"/>
            <a:ext cx="2542032" cy="36576"/>
          </a:xfrm>
          <a:prstGeom prst="rect">
            <a:avLst/>
          </a:prstGeom>
          <a:solidFill>
            <a:srgbClr val="0909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Rounded Rectangle 135"/>
          <p:cNvSpPr/>
          <p:nvPr/>
        </p:nvSpPr>
        <p:spPr>
          <a:xfrm>
            <a:off x="731520" y="5623560"/>
            <a:ext cx="2542032" cy="438912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4E4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822960" y="5687568"/>
            <a:ext cx="118872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650" b="0" i="0">
                <a:solidFill>
                  <a:srgbClr val="64748B"/>
                </a:solidFill>
                <a:latin typeface="JetBrains Mono"/>
              </a:rPr>
              <a:t>TAM PROJECTION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828800" y="5669280"/>
            <a:ext cx="132588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850" b="1" i="0">
                <a:solidFill>
                  <a:srgbClr val="09090B"/>
                </a:solidFill>
                <a:latin typeface="JetBrains Mono"/>
              </a:rPr>
              <a:t>₹74,500 Cr Market</a:t>
            </a:r>
          </a:p>
        </p:txBody>
      </p:sp>
      <p:sp>
        <p:nvSpPr>
          <p:cNvPr id="139" name="Rounded Rectangle 138"/>
          <p:cNvSpPr/>
          <p:nvPr/>
        </p:nvSpPr>
        <p:spPr>
          <a:xfrm>
            <a:off x="3456432" y="5623560"/>
            <a:ext cx="2542032" cy="438912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4E4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TextBox 139"/>
          <p:cNvSpPr txBox="1"/>
          <p:nvPr/>
        </p:nvSpPr>
        <p:spPr>
          <a:xfrm>
            <a:off x="3547872" y="5687568"/>
            <a:ext cx="118872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650" b="0" i="0">
                <a:solidFill>
                  <a:srgbClr val="64748B"/>
                </a:solidFill>
                <a:latin typeface="JetBrains Mono"/>
              </a:rPr>
              <a:t>DEMAND DELTA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4553712" y="5669280"/>
            <a:ext cx="132588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850" b="1" i="0">
                <a:solidFill>
                  <a:srgbClr val="047857"/>
                </a:solidFill>
                <a:latin typeface="JetBrains Mono"/>
              </a:rPr>
              <a:t>+412% Surge</a:t>
            </a:r>
          </a:p>
        </p:txBody>
      </p:sp>
      <p:sp>
        <p:nvSpPr>
          <p:cNvPr id="142" name="Rounded Rectangle 141"/>
          <p:cNvSpPr/>
          <p:nvPr/>
        </p:nvSpPr>
        <p:spPr>
          <a:xfrm>
            <a:off x="6181344" y="5623560"/>
            <a:ext cx="2542032" cy="438912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4E4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TextBox 142"/>
          <p:cNvSpPr txBox="1"/>
          <p:nvPr/>
        </p:nvSpPr>
        <p:spPr>
          <a:xfrm>
            <a:off x="6272784" y="5687568"/>
            <a:ext cx="118872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650" b="0" i="0">
                <a:solidFill>
                  <a:srgbClr val="64748B"/>
                </a:solidFill>
                <a:latin typeface="JetBrains Mono"/>
              </a:rPr>
              <a:t>REGULATORY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7278624" y="5669280"/>
            <a:ext cx="132588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850" b="1" i="0">
                <a:solidFill>
                  <a:srgbClr val="09090B"/>
                </a:solidFill>
                <a:latin typeface="JetBrains Mono"/>
              </a:rPr>
              <a:t>37 Nations Mandate</a:t>
            </a:r>
          </a:p>
        </p:txBody>
      </p:sp>
      <p:sp>
        <p:nvSpPr>
          <p:cNvPr id="145" name="Rounded Rectangle 144"/>
          <p:cNvSpPr/>
          <p:nvPr/>
        </p:nvSpPr>
        <p:spPr>
          <a:xfrm>
            <a:off x="8906256" y="5623560"/>
            <a:ext cx="2542032" cy="438912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4E4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TextBox 145"/>
          <p:cNvSpPr txBox="1"/>
          <p:nvPr/>
        </p:nvSpPr>
        <p:spPr>
          <a:xfrm>
            <a:off x="8997696" y="5687568"/>
            <a:ext cx="118872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650" b="0" i="0">
                <a:solidFill>
                  <a:srgbClr val="64748B"/>
                </a:solidFill>
                <a:latin typeface="JetBrains Mono"/>
              </a:rPr>
              <a:t>NDMA / SDRF GRANTS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0003536" y="5669280"/>
            <a:ext cx="132588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850" b="1" i="0">
                <a:solidFill>
                  <a:srgbClr val="047857"/>
                </a:solidFill>
                <a:latin typeface="JetBrains Mono"/>
              </a:rPr>
              <a:t>₹1,500 Cr Allocation</a:t>
            </a:r>
          </a:p>
        </p:txBody>
      </p:sp>
      <p:sp>
        <p:nvSpPr>
          <p:cNvPr id="148" name="Rectangle 147"/>
          <p:cNvSpPr/>
          <p:nvPr/>
        </p:nvSpPr>
        <p:spPr>
          <a:xfrm>
            <a:off x="731520" y="6172200"/>
            <a:ext cx="10728655" cy="13716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TextBox 148"/>
          <p:cNvSpPr txBox="1"/>
          <p:nvPr/>
        </p:nvSpPr>
        <p:spPr>
          <a:xfrm>
            <a:off x="731520" y="6263640"/>
            <a:ext cx="2743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00" b="0" i="0">
                <a:solidFill>
                  <a:srgbClr val="64748B"/>
                </a:solidFill>
                <a:latin typeface="JetBrains Mono"/>
              </a:rPr>
              <a:t>PAGE 03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6858000" y="6263640"/>
            <a:ext cx="4602175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900" b="1" i="0">
                <a:solidFill>
                  <a:srgbClr val="0A1628"/>
                </a:solidFill>
                <a:latin typeface="JetBrains Mono"/>
              </a:rPr>
              <a:t>TEAM OFFGRID — PROJECT SUTRA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PROJECT SUTRA Pitch Deck</dc:title>
  <dc:subject/>
  <dc:creator>Team Offgrid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