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90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365760"/>
            <a:ext cx="2286000" cy="320040"/>
          </a:xfrm>
          <a:prstGeom prst="roundRect">
            <a:avLst/>
          </a:prstGeom>
          <a:solidFill>
            <a:srgbClr val="2A0F1A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29768"/>
            <a:ext cx="21031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DA4AF"/>
                </a:solidFill>
                <a:latin typeface="JetBrains Mono"/>
              </a:rPr>
              <a:t>DEFENSE &amp; DISASTER ROBOTICS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365760"/>
            <a:ext cx="2194560" cy="320040"/>
          </a:xfrm>
          <a:prstGeom prst="roundRect">
            <a:avLst/>
          </a:prstGeom>
          <a:solidFill>
            <a:srgbClr val="0C241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26080" y="42976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10B981"/>
                </a:solidFill>
                <a:latin typeface="JetBrains Mono"/>
              </a:rPr>
              <a:t>● SWARM STATE: 5/5 NODES ACTIVE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0" y="429768"/>
            <a:ext cx="57607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50" b="0">
                <a:solidFill>
                  <a:srgbClr val="94A3B8"/>
                </a:solidFill>
                <a:latin typeface="JetBrains Mono"/>
              </a:rPr>
              <a:t>SECTOR: KEDARNATH VALLEY (30.7346° N, 79.0669° E)   |   CLOCK: 2026-08-31 11:22 UTC+05:30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822960"/>
            <a:ext cx="11277295" cy="137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4300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06B6D4"/>
                </a:solidFill>
                <a:latin typeface="JetBrains Mono"/>
              </a:rPr>
              <a:t>— AUTONOMOUS MULTI-AGENT AERIAL SWARM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64008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5200" b="1">
                <a:solidFill>
                  <a:srgbClr val="F8FAFC"/>
                </a:solidFill>
                <a:latin typeface="Montserrat"/>
              </a:rPr>
              <a:t>PROJECT SUTRA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33172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38BDF8"/>
                </a:solidFill>
                <a:latin typeface="Inter"/>
              </a:rPr>
              <a:t>Swarm Unified Tactical Reconnaissance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621792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0">
                <a:solidFill>
                  <a:srgbClr val="94A3B8"/>
                </a:solidFill>
                <a:latin typeface="Inter"/>
              </a:rPr>
              <a:t>A decentralized, fault-tolerant multi-UAV swarm engineered from first principles for GPS-denied deep mountain valleys, heavy RF jamming (-5 dB SNR), and sub-meter survivor geolocation under dense forest canopies.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566160"/>
            <a:ext cx="3017520" cy="5029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30352" y="3675888"/>
            <a:ext cx="731520" cy="274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73075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8FAFC"/>
                </a:solidFill>
                <a:latin typeface="JetBrains Mono"/>
              </a:rPr>
              <a:t>SUBSYS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367588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Inter"/>
              </a:rPr>
              <a:t>PX4 50Hz Offboard + SUTRA-FSD 3D Occupancy &amp; ORCA 3D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3566160"/>
            <a:ext cx="3017520" cy="5029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39312" y="3675888"/>
            <a:ext cx="731520" cy="274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9312" y="373075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8FAFC"/>
                </a:solidFill>
                <a:latin typeface="JetBrains Mono"/>
              </a:rPr>
              <a:t>SUBSYS 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367588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Inter"/>
              </a:rPr>
              <a:t>Deep JSCC Neural Transceiver (96.9% Video Compression)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160520"/>
            <a:ext cx="3017520" cy="5029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30352" y="4270248"/>
            <a:ext cx="731520" cy="274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432511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8FAFC"/>
                </a:solidFill>
                <a:latin typeface="JetBrains Mono"/>
              </a:rPr>
              <a:t>SUBSYS 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27024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Inter"/>
              </a:rPr>
              <a:t>Tri-Modal RGB/Thermal Edge AI + 3.59cm WGS84 Raycaster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566160" y="4160520"/>
            <a:ext cx="3017520" cy="5029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639312" y="4270248"/>
            <a:ext cx="731520" cy="274320"/>
          </a:xfrm>
          <a:prstGeom prst="round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9312" y="4325112"/>
            <a:ext cx="731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F8FAFC"/>
                </a:solidFill>
                <a:latin typeface="JetBrains Mono"/>
              </a:rPr>
              <a:t>SUBSYS 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270248"/>
            <a:ext cx="20574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0">
                <a:solidFill>
                  <a:srgbClr val="CBD5E1"/>
                </a:solidFill>
                <a:latin typeface="Inter"/>
              </a:rPr>
              <a:t>Pegasus 3D GIS GCS + WebGPU 60 FPS Multi-Stream &amp; ATAK CoT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1188720"/>
            <a:ext cx="4876495" cy="34747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15200" y="1188720"/>
            <a:ext cx="3962095" cy="2743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0" y="132588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8FAFC"/>
                </a:solidFill>
                <a:latin typeface="JetBrains Mono"/>
              </a:rPr>
              <a:t>⬡ TACTICAL MESH TELEMETRY (GAZEBO SIM 8)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332720" y="1325880"/>
            <a:ext cx="1188720" cy="256032"/>
          </a:xfrm>
          <a:prstGeom prst="roundRect">
            <a:avLst/>
          </a:prstGeom>
          <a:solidFill>
            <a:srgbClr val="0C241E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32720" y="1371600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750" b="1">
                <a:solidFill>
                  <a:srgbClr val="10B981"/>
                </a:solidFill>
                <a:latin typeface="JetBrains Mono"/>
              </a:rPr>
              <a:t>SWARM-RAFT LOCKED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040880" y="1737360"/>
            <a:ext cx="4510735" cy="365760"/>
          </a:xfrm>
          <a:prstGeom prst="roundRect">
            <a:avLst/>
          </a:prstGeom>
          <a:solidFill>
            <a:srgbClr val="070B14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1828800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LEADER (UAV-01)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961120" y="1828800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10B981"/>
                </a:solidFill>
                <a:latin typeface="JetBrains Mono"/>
              </a:rPr>
              <a:t>ORCA 3D ACTIVE | Z = 4.60m | V = 3.20 m/s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040880" y="2157984"/>
            <a:ext cx="4510735" cy="365760"/>
          </a:xfrm>
          <a:prstGeom prst="roundRect">
            <a:avLst/>
          </a:prstGeom>
          <a:solidFill>
            <a:srgbClr val="070B14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0" y="2249424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ECHELON FOLLOWER (UAV 02-05)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61120" y="2249424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06B6D4"/>
                </a:solidFill>
                <a:latin typeface="JetBrains Mono"/>
              </a:rPr>
              <a:t>CBF BARRIER CLEARANCE: 4.12m &gt; 2.80m SAFE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040880" y="2578608"/>
            <a:ext cx="4510735" cy="365760"/>
          </a:xfrm>
          <a:prstGeom prst="roundRect">
            <a:avLst/>
          </a:prstGeom>
          <a:solidFill>
            <a:srgbClr val="070B14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0" y="2670048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NEURAL LINK (DEEP JSCC)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61120" y="2670048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10B981"/>
                </a:solidFill>
                <a:latin typeface="JetBrains Mono"/>
              </a:rPr>
              <a:t>-5.0 dB SNR JAMMING | 41.8 dB PSNR RECON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040880" y="2999232"/>
            <a:ext cx="4510735" cy="365760"/>
          </a:xfrm>
          <a:prstGeom prst="roundRect">
            <a:avLst/>
          </a:prstGeom>
          <a:solidFill>
            <a:srgbClr val="070B14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132320" y="3090672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EDGE NEUROFLIGHT INVERSION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20" y="3090672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06B6D4"/>
                </a:solidFill>
                <a:latin typeface="JetBrains Mono"/>
              </a:rPr>
              <a:t>0.04 ms INFERENCE | 18.0 m/s GUST REJECTION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040880" y="3419856"/>
            <a:ext cx="4510735" cy="365760"/>
          </a:xfrm>
          <a:prstGeom prst="roundRect">
            <a:avLst/>
          </a:prstGeom>
          <a:solidFill>
            <a:srgbClr val="070B14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0" y="3511296"/>
            <a:ext cx="201168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0">
                <a:solidFill>
                  <a:srgbClr val="94A3B8"/>
                </a:solidFill>
                <a:latin typeface="JetBrains Mono"/>
              </a:rPr>
              <a:t>CONSENSUS STATE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961120" y="3511296"/>
            <a:ext cx="249905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JetBrains Mono"/>
              </a:rPr>
              <a:t>QUORUM 5/5 | TERM 14 | ZERO SPLIT-BRAIN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040880" y="3886200"/>
            <a:ext cx="4510735" cy="548640"/>
          </a:xfrm>
          <a:prstGeom prst="roundRect">
            <a:avLst/>
          </a:prstGeom>
          <a:solidFill>
            <a:srgbClr val="050A14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23760" y="3950208"/>
            <a:ext cx="301752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00" b="1">
                <a:solidFill>
                  <a:srgbClr val="94A3B8"/>
                </a:solidFill>
                <a:latin typeface="JetBrains Mono"/>
              </a:rPr>
              <a:t>🎯 SURVIVOR TARGET ACQUIRED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23760" y="4133088"/>
            <a:ext cx="301752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950" b="1">
                <a:solidFill>
                  <a:srgbClr val="F8FAFC"/>
                </a:solidFill>
                <a:latin typeface="JetBrains Mono"/>
              </a:rPr>
              <a:t>WGS84: 30.73462° N, 79.06691° 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332720" y="4005072"/>
            <a:ext cx="1005840" cy="292608"/>
          </a:xfrm>
          <a:prstGeom prst="roundRect">
            <a:avLst/>
          </a:prstGeom>
          <a:solidFill>
            <a:srgbClr val="2A0F1A"/>
          </a:solidFill>
          <a:ln w="1270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332720" y="4050792"/>
            <a:ext cx="10058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850" b="1">
                <a:solidFill>
                  <a:srgbClr val="FDA4AF"/>
                </a:solidFill>
                <a:latin typeface="JetBrains Mono"/>
              </a:rPr>
              <a:t>ERR: 0.0359m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4892040"/>
            <a:ext cx="2651760" cy="11887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4892040"/>
            <a:ext cx="36576" cy="11887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Montserrat"/>
              </a:rPr>
              <a:t>232/232 TESTS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94360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E2E8F0"/>
                </a:solidFill>
                <a:latin typeface="JetBrains Mono"/>
              </a:rPr>
              <a:t>ZERO-MOCK VERIFICATION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64748B"/>
                </a:solidFill>
                <a:latin typeface="Inter"/>
              </a:rPr>
              <a:t>100% automated pytest suite passing with live telemetry stdout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28416" y="4892040"/>
            <a:ext cx="2651760" cy="11887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328416" y="4892040"/>
            <a:ext cx="36576" cy="1188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465576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Montserrat"/>
              </a:rPr>
              <a:t>96.9% BW SAVED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65576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E2E8F0"/>
                </a:solidFill>
                <a:latin typeface="JetBrains Mono"/>
              </a:rPr>
              <a:t>DEEP JSCC COMPRESSION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465576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64748B"/>
                </a:solidFill>
                <a:latin typeface="Inter"/>
              </a:rPr>
              <a:t>512 KB → 16 KB frames surviving extreme -5 dB jamming without cliff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99632" y="4892040"/>
            <a:ext cx="2651760" cy="11887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99632" y="4892040"/>
            <a:ext cx="36576" cy="11887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36792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Montserrat"/>
              </a:rPr>
              <a:t>3.59 CM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336792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E2E8F0"/>
                </a:solidFill>
                <a:latin typeface="JetBrains Mono"/>
              </a:rPr>
              <a:t>WGS84 DEM GEOLOCATION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36792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64748B"/>
                </a:solidFill>
                <a:latin typeface="Inter"/>
              </a:rPr>
              <a:t>Terrain-corrected raycaster error from 30m altitude over mountain slopes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070848" y="4892040"/>
            <a:ext cx="2651760" cy="1188720"/>
          </a:xfrm>
          <a:prstGeom prst="roundRect">
            <a:avLst/>
          </a:prstGeom>
          <a:solidFill>
            <a:srgbClr val="0D121F"/>
          </a:solidFill>
          <a:ln w="1270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070848" y="4892040"/>
            <a:ext cx="36576" cy="118872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208008" y="5001768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F8FAFC"/>
                </a:solidFill>
                <a:latin typeface="Montserrat"/>
              </a:rPr>
              <a:t>60.0 FPS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08008" y="5367528"/>
            <a:ext cx="237744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850" b="1">
                <a:solidFill>
                  <a:srgbClr val="E2E8F0"/>
                </a:solidFill>
                <a:latin typeface="JetBrains Mono"/>
              </a:rPr>
              <a:t>WEBGPU MULTI-STREAM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208008" y="5605272"/>
            <a:ext cx="2377440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64748B"/>
                </a:solidFill>
                <a:latin typeface="Inter"/>
              </a:rPr>
              <a:t>Locked 60 FPS zero frame-drop tactical 3D GIS Ground Control Station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7200" y="637336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750" b="0">
                <a:solidFill>
                  <a:srgbClr val="94A3B8"/>
                </a:solidFill>
                <a:latin typeface="JetBrains Mono"/>
              </a:rPr>
              <a:t>Nikhil (Tech Lead · Subsystems A &amp; B)  •  Vedanth Sai Ram (Subsystem C Perception)  •  Siva Kesava (Subsystem D 3D GIS)  •  Harika (Subsystem E QA &amp; Pitch)  •  Rohith Kumar (Subsystem F Compute)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29600" y="6373368"/>
            <a:ext cx="3504895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750" b="1">
                <a:solidFill>
                  <a:srgbClr val="94A3B8"/>
                </a:solidFill>
                <a:latin typeface="JetBrains Mono"/>
              </a:rPr>
              <a:t>● NDMA / DARPA-TIER OPEN ARCHITECTURE · GRAND FINALS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SUTRA — Master Defense &amp; Disaster Robotics Pitch Deck</dc:title>
  <dc:subject/>
  <dc:creator>Nikhil &amp; SUTRA Core Architecture Team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