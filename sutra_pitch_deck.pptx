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Space Grotesk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9090B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9090B"/>
                </a:solidFill>
                <a:latin typeface="Space Grotesk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Space Grotesk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Space Grotesk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Space Grotesk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66928"/>
            <a:ext cx="91440" cy="329184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943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0A1628"/>
                </a:solidFill>
                <a:latin typeface="JetBrains Mono"/>
              </a:rPr>
              <a:t>THE PROBLEM — SUBSYSTEM FAILURE MODES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78240" y="548640"/>
            <a:ext cx="265176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961120" y="658368"/>
            <a:ext cx="91440" cy="914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603504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475569"/>
                </a:solidFill>
                <a:latin typeface="JetBrains Mono"/>
              </a:rPr>
              <a:t>DISASTER FIELD BOTTLENECKS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118872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09090B"/>
                </a:solidFill>
                <a:latin typeface="Space Grotesk"/>
              </a:rPr>
              <a:t>GPS Loss and Radio Blackouts Cripple Disaster Rescue</a:t>
            </a:r>
          </a:p>
        </p:txBody>
      </p:sp>
      <p:sp>
        <p:nvSpPr>
          <p:cNvPr id="48" name="Oval 47"/>
          <p:cNvSpPr/>
          <p:nvPr/>
        </p:nvSpPr>
        <p:spPr>
          <a:xfrm>
            <a:off x="749808" y="2386584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233172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50" name="Oval 49"/>
          <p:cNvSpPr/>
          <p:nvPr/>
        </p:nvSpPr>
        <p:spPr>
          <a:xfrm>
            <a:off x="749808" y="2788920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" y="2734056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2" name="Oval 51"/>
          <p:cNvSpPr/>
          <p:nvPr/>
        </p:nvSpPr>
        <p:spPr>
          <a:xfrm>
            <a:off x="749808" y="3191256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" y="313639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4" name="Oval 53"/>
          <p:cNvSpPr/>
          <p:nvPr/>
        </p:nvSpPr>
        <p:spPr>
          <a:xfrm>
            <a:off x="749808" y="3593592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" y="3538728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6" name="Oval 55"/>
          <p:cNvSpPr/>
          <p:nvPr/>
        </p:nvSpPr>
        <p:spPr>
          <a:xfrm>
            <a:off x="749808" y="3995928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" y="3941064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52628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SUBSYSTEM FAILURE SCHEMATICS &amp; VOIDS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gps_canopy_sh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4791456"/>
            <a:ext cx="1901952" cy="50292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04672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A VOID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9090B"/>
                </a:solidFill>
                <a:latin typeface="Space Grotesk"/>
              </a:rPr>
              <a:t>Canopy GPS Drift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4672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GNSS Multi-Path Crash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07792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rf_mountain_shad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" y="4791456"/>
            <a:ext cx="1901952" cy="5029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980944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B VOID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4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9090B"/>
                </a:solidFill>
                <a:latin typeface="Space Grotesk"/>
              </a:rPr>
              <a:t>RF Ridge Cut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80944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Digital Cliff Blackout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84064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ingle_link_los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4791456"/>
            <a:ext cx="1901952" cy="50292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157216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C/D VOID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57216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9090B"/>
                </a:solidFill>
                <a:latin typeface="Space Grotesk"/>
              </a:rPr>
              <a:t>Central Link Abort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57216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Single Point Loss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0" y="123444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REAL DISASTER FIELD EVIDENCE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123444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98079" y="1783080"/>
            <a:ext cx="3931920" cy="3474720"/>
          </a:xfrm>
          <a:prstGeom prst="roundRect">
            <a:avLst/>
          </a:prstGeom>
          <a:solidFill>
            <a:srgbClr val="3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06640" y="1691640"/>
            <a:ext cx="4023360" cy="35661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315200" y="1600200"/>
            <a:ext cx="4114800" cy="365760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wayanad_resc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00200"/>
            <a:ext cx="4114800" cy="36576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7315200" y="3291840"/>
            <a:ext cx="4114800" cy="196596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543800" y="178308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692640" y="1783080"/>
            <a:ext cx="1554480" cy="256032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92640" y="181051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43800" y="347472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pace Grotesk"/>
              </a:rPr>
              <a:t>Wayanad Landslide Search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43800" y="38862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JetBrains Mono"/>
              </a:rPr>
              <a:t>Western Ghats • NDMA Official Disaster Review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43800" y="420624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34D399"/>
                </a:solidFill>
                <a:latin typeface="JetBrains Mono"/>
              </a:rPr>
              <a:t>FIELD BOTTLENECK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43800" y="443484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Inter"/>
              </a:rPr>
              <a:t>“70% of commercial drones lost connection behind mountain ridges and crashed under thick tree canopy.”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315200" y="5440680"/>
            <a:ext cx="548640" cy="73152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955279" y="5440680"/>
            <a:ext cx="109728" cy="73152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8138160" y="5440680"/>
            <a:ext cx="109728" cy="73152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00" y="5376672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CONTINUOUS LOOP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SOLUTION — 4 CORE SUBSYSTEM MOATS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JetBrains Mono"/>
              </a:rPr>
              <a:t>SWARM 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AI Swarm Drones Find Survivors 3-4x Faster Than Traditional SAR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10-18 MIN/MI²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78-85% DETECTION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12% FALSE POSITIVES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$12K SORTIE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A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57400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50Hz OFFBOARD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SUTRA-FSD GNC &amp; 3D ORCA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112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D71920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Canopy GPS Multi-Path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41248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Decentralized 3D velocity obstacle collision avoidance + PX4 MicroXRCE 50Hz offboard setpoint streaming.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124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24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0.05s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Latency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48256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48256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Tower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Reliance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DECENTRALIZED VIO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659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50Hz RATE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66160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B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82312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82312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-5dB RESILIENT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66160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Deep JSCC Neural Video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0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21024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D71920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21024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Mountain Ravine RF Ridge Blackout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66160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21024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21024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Differentiable joint source-channel coding yielding zero digital cliff and graceful video degradation down to -5dB.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6616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6616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-5dB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6616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SNR Thresh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7316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7316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Cliff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7316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Degradation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SEMANTIC COMMS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908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EDGE TPU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91072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C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507224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07224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3.59cm ACCURACY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91072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3D DEM AI Geolocation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91072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45936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D71920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45936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35% False Alarms &amp; Flat GPS Drift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291072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45936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45936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Jetson Orin YOLOv8-Pose with real-time WGS84 elevation raycasting, eliminating 15-30m calculation errors.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29107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9107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&lt;15ms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Inference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49808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3.59cm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9808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Geo Error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910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ELEVATION CORRECTED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157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JETSON ORIN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15984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D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232136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32136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1-2 OPERATORS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15984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Pegasus 3D WebGPU GCS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015984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70848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D71920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70848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15-25 Ground Crew Cognitive Overload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015984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Offline tactical 3D digital twin + ATAK plugin, empowering 1-2 operators to orchestrate full drone swarms.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015984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1-2 Ops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Crew Size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2299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2299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100%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2299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Offline ATAK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159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ATAK INTEGRATION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40696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WEBGPU 3D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TAM PROJECTION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$8.94B Market 2033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DEMAND DELTA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+412% Surge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REGULATORY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37 Nations Mandate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FEMA ALLOCATION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$180M in 2025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