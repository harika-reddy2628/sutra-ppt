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686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601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58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515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972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430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4572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9144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13716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18288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22860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27432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32004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36576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41148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45720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50292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54864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59436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64008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731520" y="502920"/>
            <a:ext cx="320040" cy="32004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43000" y="5669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 i="0">
                <a:solidFill>
                  <a:srgbClr val="000000"/>
                </a:solidFill>
                <a:latin typeface="Plus Jakarta Sans"/>
              </a:rPr>
              <a:t>TEAM OFFGRID  /  DEFENSE &amp; DISASTER ROBOTICS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961120" y="530352"/>
            <a:ext cx="1645920" cy="274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098280" y="621792"/>
            <a:ext cx="73152" cy="73152"/>
          </a:xfrm>
          <a:prstGeom prst="ellipse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235440" y="585216"/>
            <a:ext cx="1371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 i="0">
                <a:solidFill>
                  <a:srgbClr val="475569"/>
                </a:solidFill>
                <a:latin typeface="Plus Jakarta Sans"/>
              </a:rPr>
              <a:t>AUTONOMOUS SWARM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98480" y="566928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0" i="0">
                <a:solidFill>
                  <a:srgbClr val="64748B"/>
                </a:solidFill>
                <a:latin typeface="JetBrains Mono"/>
              </a:rPr>
              <a:t>AUG 2026 • REV 1.0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1520" y="14173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0" i="1">
                <a:solidFill>
                  <a:srgbClr val="000000"/>
                </a:solidFill>
                <a:latin typeface="Georgia"/>
              </a:rPr>
              <a:t>“When GPS fails and RF links jam, SUTRA geonavigates and locates survivors in real-time.”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" y="1874519"/>
            <a:ext cx="320040" cy="1828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48640" y="1874519"/>
            <a:ext cx="18288" cy="3200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486400" y="3429000"/>
            <a:ext cx="320040" cy="1828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788152" y="3127248"/>
            <a:ext cx="18288" cy="3200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1520" y="1874519"/>
            <a:ext cx="73152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200" b="1" i="0">
                <a:solidFill>
                  <a:srgbClr val="000000"/>
                </a:solidFill>
                <a:latin typeface="Plus Jakarta Sans"/>
              </a:rPr>
              <a:t>PROJECT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1520" y="2560320"/>
            <a:ext cx="73152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200" b="0" i="1">
                <a:solidFill>
                  <a:srgbClr val="475569"/>
                </a:solidFill>
                <a:latin typeface="Plus Jakarta Sans"/>
              </a:rPr>
              <a:t>SUTRA.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1520" y="3364992"/>
            <a:ext cx="91440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Inter"/>
              </a:rPr>
              <a:t>Swarm Unified Tactical Reconnaissance Architecture — decentralized multi-UAV flight, Deep JSCC neural zero-cliff video, and 3.59cm terrain-corrected DEM survivor geolocation.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31520" y="3931920"/>
            <a:ext cx="24688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377440" y="3886200"/>
            <a:ext cx="7315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800" b="1" i="0">
                <a:solidFill>
                  <a:srgbClr val="F1F5F9"/>
                </a:solidFill>
                <a:latin typeface="JetBrains Mono"/>
              </a:rPr>
              <a:t>01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41248" y="4023360"/>
            <a:ext cx="1188720" cy="18288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41248" y="4041648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20" b="1" i="0">
                <a:solidFill>
                  <a:srgbClr val="FFFFFF"/>
                </a:solidFill>
                <a:latin typeface="Plus Jakarta Sans"/>
              </a:rPr>
              <a:t>DECENTRALIZED GNC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1248" y="425196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900" b="1" i="0">
                <a:solidFill>
                  <a:srgbClr val="000000"/>
                </a:solidFill>
                <a:latin typeface="Plus Jakarta Sans"/>
              </a:rPr>
              <a:t>50Hz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0" y="4315968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475569"/>
                </a:solidFill>
                <a:latin typeface="Plus Jakarta Sans"/>
              </a:rPr>
              <a:t>Offboard Rate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41248" y="4663440"/>
            <a:ext cx="22402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 i="0">
                <a:solidFill>
                  <a:srgbClr val="64748B"/>
                </a:solidFill>
                <a:latin typeface="Inter"/>
              </a:rPr>
              <a:t>PX4 MicroXRCE + VIO EKF2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3383280" y="3931920"/>
            <a:ext cx="24688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29200" y="3886200"/>
            <a:ext cx="7315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800" b="1" i="0">
                <a:solidFill>
                  <a:srgbClr val="F1F5F9"/>
                </a:solidFill>
                <a:latin typeface="JetBrains Mono"/>
              </a:rPr>
              <a:t>02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493008" y="4023360"/>
            <a:ext cx="1188720" cy="182880"/>
          </a:xfrm>
          <a:prstGeom prst="round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493008" y="4041648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20" b="1" i="0">
                <a:solidFill>
                  <a:srgbClr val="FFFFFF"/>
                </a:solidFill>
                <a:latin typeface="Plus Jakarta Sans"/>
              </a:rPr>
              <a:t>SEMANTIC WIRELESS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493008" y="425196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900" b="1" i="0">
                <a:solidFill>
                  <a:srgbClr val="000000"/>
                </a:solidFill>
                <a:latin typeface="Plus Jakarta Sans"/>
              </a:rPr>
              <a:t>-5dB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480560" y="4315968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475569"/>
                </a:solidFill>
                <a:latin typeface="Plus Jakarta Sans"/>
              </a:rPr>
              <a:t>Jam Resilience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493008" y="4663440"/>
            <a:ext cx="22402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 i="0">
                <a:solidFill>
                  <a:srgbClr val="64748B"/>
                </a:solidFill>
                <a:latin typeface="Inter"/>
              </a:rPr>
              <a:t>Deep JSCC Zero-Cliff Video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035040" y="3931920"/>
            <a:ext cx="24688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680960" y="3886200"/>
            <a:ext cx="7315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800" b="1" i="0">
                <a:solidFill>
                  <a:srgbClr val="F1F5F9"/>
                </a:solidFill>
                <a:latin typeface="JetBrains Mono"/>
              </a:rPr>
              <a:t>03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144768" y="4023360"/>
            <a:ext cx="1188720" cy="18288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144768" y="4041648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20" b="1" i="0">
                <a:solidFill>
                  <a:srgbClr val="FFFFFF"/>
                </a:solidFill>
                <a:latin typeface="Plus Jakarta Sans"/>
              </a:rPr>
              <a:t>TERRAIN GEOLOCATION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144768" y="425196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900" b="1" i="0">
                <a:solidFill>
                  <a:srgbClr val="000000"/>
                </a:solidFill>
                <a:latin typeface="Plus Jakarta Sans"/>
              </a:rPr>
              <a:t>3.59cm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132320" y="4315968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475569"/>
                </a:solidFill>
                <a:latin typeface="Plus Jakarta Sans"/>
              </a:rPr>
              <a:t>Geo-Accuracy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144768" y="4663440"/>
            <a:ext cx="22402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 i="0">
                <a:solidFill>
                  <a:srgbClr val="64748B"/>
                </a:solidFill>
                <a:latin typeface="Inter"/>
              </a:rPr>
              <a:t>WGS84 3D DEM Raycasting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516636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31520" y="5257800"/>
            <a:ext cx="54864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1" i="0">
                <a:solidFill>
                  <a:srgbClr val="94A3B8"/>
                </a:solidFill>
                <a:latin typeface="Plus Jakarta Sans"/>
              </a:rPr>
              <a:t>CORE ARCHITECTURE TEAM (OFFGRID)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858000" y="5257800"/>
            <a:ext cx="4602175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 i="0">
                <a:solidFill>
                  <a:srgbClr val="475569"/>
                </a:solidFill>
                <a:latin typeface="Plus Jakarta Sans"/>
              </a:rPr>
              <a:t>RESEARCH-BACKED &amp; EMPIRICALLY VALIDATED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731520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41248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Plus Jakarta Sans"/>
              </a:rPr>
              <a:t>Nikhil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41248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Inter"/>
              </a:rPr>
              <a:t>Tech Lead · Subsys A &amp; B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841248" y="6080760"/>
            <a:ext cx="1097280" cy="201168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41248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FFFFFF"/>
                </a:solidFill>
                <a:latin typeface="Plus Jakarta Sans"/>
              </a:rPr>
              <a:t>GNC &amp; JSCC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2907792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017520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Plus Jakarta Sans"/>
              </a:rPr>
              <a:t>Vedanth Sai Ram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017520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Inter"/>
              </a:rPr>
              <a:t>Lead · Subsystem C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017520" y="6080760"/>
            <a:ext cx="1097280" cy="201168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017520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0A1628"/>
                </a:solidFill>
                <a:latin typeface="Plus Jakarta Sans"/>
              </a:rPr>
              <a:t>AI PERCEPTION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5084064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193792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Plus Jakarta Sans"/>
              </a:rPr>
              <a:t>Siva Kesava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193792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Inter"/>
              </a:rPr>
              <a:t>Lead · Subsystem D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5193792" y="6080760"/>
            <a:ext cx="1097280" cy="201168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193792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0A1628"/>
                </a:solidFill>
                <a:latin typeface="Plus Jakarta Sans"/>
              </a:rPr>
              <a:t>3D GIS GCS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7260336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370064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Plus Jakarta Sans"/>
              </a:rPr>
              <a:t>Harika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370064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Inter"/>
              </a:rPr>
              <a:t>Lead · Subsystem E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7370064" y="6080760"/>
            <a:ext cx="1097280" cy="201168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370064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0A1628"/>
                </a:solidFill>
                <a:latin typeface="Plus Jakarta Sans"/>
              </a:rPr>
              <a:t>VERIFICATION QA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9436608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9546336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Plus Jakarta Sans"/>
              </a:rPr>
              <a:t>Rohith Kumar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546336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Inter"/>
              </a:rPr>
              <a:t>Lead · Subsystem F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9546336" y="6080760"/>
            <a:ext cx="1097280" cy="201168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9546336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0A1628"/>
                </a:solidFill>
                <a:latin typeface="Plus Jakarta Sans"/>
              </a:rPr>
              <a:t>NDMA CONOPS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686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601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58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515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972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430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4572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9144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13716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18288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22860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27432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32004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36576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41148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45720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50292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54864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59436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64008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731520" y="594360"/>
            <a:ext cx="73152" cy="274320"/>
          </a:xfrm>
          <a:prstGeom prst="round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612648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i="0">
                <a:solidFill>
                  <a:srgbClr val="0A1628"/>
                </a:solidFill>
                <a:latin typeface="JetBrains Mono"/>
              </a:rPr>
              <a:t>THE PROBLEM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961120" y="566928"/>
            <a:ext cx="2468880" cy="274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61120" y="612648"/>
            <a:ext cx="24688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50" b="1" i="0">
                <a:solidFill>
                  <a:srgbClr val="475569"/>
                </a:solidFill>
                <a:latin typeface="JetBrains Mono"/>
              </a:rPr>
              <a:t>RESCUE DRONE FAILURE MODES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1520" y="1234440"/>
            <a:ext cx="64008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00000"/>
                </a:solidFill>
                <a:latin typeface="Plus Jakarta Sans"/>
              </a:rPr>
              <a:t>GPS Loss and Radio Blackouts Cripple Disaster Rescue</a:t>
            </a:r>
          </a:p>
        </p:txBody>
      </p:sp>
      <p:sp>
        <p:nvSpPr>
          <p:cNvPr id="47" name="Oval 46"/>
          <p:cNvSpPr/>
          <p:nvPr/>
        </p:nvSpPr>
        <p:spPr>
          <a:xfrm>
            <a:off x="749808" y="2386584"/>
            <a:ext cx="82296" cy="82296"/>
          </a:xfrm>
          <a:prstGeom prst="ellipse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32688" y="2331720"/>
            <a:ext cx="62179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374151"/>
                </a:solidFill>
                <a:latin typeface="Inter"/>
              </a:rPr>
              <a:t>Mountain valleys cut drone video feeds</a:t>
            </a:r>
          </a:p>
        </p:txBody>
      </p:sp>
      <p:sp>
        <p:nvSpPr>
          <p:cNvPr id="49" name="Oval 48"/>
          <p:cNvSpPr/>
          <p:nvPr/>
        </p:nvSpPr>
        <p:spPr>
          <a:xfrm>
            <a:off x="749808" y="2825496"/>
            <a:ext cx="82296" cy="82296"/>
          </a:xfrm>
          <a:prstGeom prst="ellipse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32688" y="2770632"/>
            <a:ext cx="62179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374151"/>
                </a:solidFill>
                <a:latin typeface="Inter"/>
              </a:rPr>
              <a:t>Dense trees block satellite GPS signals</a:t>
            </a:r>
          </a:p>
        </p:txBody>
      </p:sp>
      <p:sp>
        <p:nvSpPr>
          <p:cNvPr id="51" name="Oval 50"/>
          <p:cNvSpPr/>
          <p:nvPr/>
        </p:nvSpPr>
        <p:spPr>
          <a:xfrm>
            <a:off x="749808" y="3264408"/>
            <a:ext cx="82296" cy="82296"/>
          </a:xfrm>
          <a:prstGeom prst="ellipse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32688" y="3209544"/>
            <a:ext cx="62179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374151"/>
                </a:solidFill>
                <a:latin typeface="Inter"/>
              </a:rPr>
              <a:t>Single control towers cause mission failure</a:t>
            </a:r>
          </a:p>
        </p:txBody>
      </p:sp>
      <p:sp>
        <p:nvSpPr>
          <p:cNvPr id="53" name="Oval 52"/>
          <p:cNvSpPr/>
          <p:nvPr/>
        </p:nvSpPr>
        <p:spPr>
          <a:xfrm>
            <a:off x="749808" y="3703320"/>
            <a:ext cx="82296" cy="82296"/>
          </a:xfrm>
          <a:prstGeom prst="ellipse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32688" y="3648456"/>
            <a:ext cx="62179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374151"/>
                </a:solidFill>
                <a:latin typeface="Inter"/>
              </a:rPr>
              <a:t>Manual searching delays finding trapped victims</a:t>
            </a:r>
          </a:p>
        </p:txBody>
      </p:sp>
      <p:sp>
        <p:nvSpPr>
          <p:cNvPr id="55" name="Oval 54"/>
          <p:cNvSpPr/>
          <p:nvPr/>
        </p:nvSpPr>
        <p:spPr>
          <a:xfrm>
            <a:off x="749808" y="4142232"/>
            <a:ext cx="82296" cy="82296"/>
          </a:xfrm>
          <a:prstGeom prst="ellipse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32688" y="4087368"/>
            <a:ext cx="62179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374151"/>
                </a:solidFill>
                <a:latin typeface="Inter"/>
              </a:rPr>
              <a:t>Military drones cost over $50,000 each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1520" y="4617720"/>
            <a:ext cx="45720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 i="0">
                <a:solidFill>
                  <a:srgbClr val="94A3B8"/>
                </a:solidFill>
                <a:latin typeface="JetBrains Mono"/>
              </a:rPr>
              <a:t>TACTICAL FAILURE SCHEMATICS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31520" y="4846320"/>
            <a:ext cx="2011680" cy="8229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41248" y="491947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 i="0">
                <a:solidFill>
                  <a:srgbClr val="000000"/>
                </a:solidFill>
                <a:latin typeface="Plus Jakarta Sans"/>
              </a:rPr>
              <a:t>RF Ridge Shadow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1248" y="5138928"/>
            <a:ext cx="179222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  <a:latin typeface="JetBrains Mono"/>
              </a:rPr>
              <a:t>Video Stream Drop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907792" y="4846320"/>
            <a:ext cx="2011680" cy="8229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017520" y="491947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 i="0">
                <a:solidFill>
                  <a:srgbClr val="000000"/>
                </a:solidFill>
                <a:latin typeface="Plus Jakarta Sans"/>
              </a:rPr>
              <a:t>Canopy Shadow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017520" y="5138928"/>
            <a:ext cx="179222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  <a:latin typeface="JetBrains Mono"/>
              </a:rPr>
              <a:t>GNSS Multi-Path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084064" y="4846320"/>
            <a:ext cx="2011680" cy="8229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193792" y="491947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 i="0">
                <a:solidFill>
                  <a:srgbClr val="000000"/>
                </a:solidFill>
                <a:latin typeface="Plus Jakarta Sans"/>
              </a:rPr>
              <a:t>Central Link Loss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193792" y="5138928"/>
            <a:ext cx="179222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  <a:latin typeface="JetBrains Mono"/>
              </a:rPr>
              <a:t>Single Point Abort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498079" y="1234440"/>
            <a:ext cx="39319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 i="0">
                <a:solidFill>
                  <a:srgbClr val="94A3B8"/>
                </a:solidFill>
                <a:latin typeface="JetBrains Mono"/>
              </a:rPr>
              <a:t>OFFICIAL EVIDENCE &amp; AUDITS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875520" y="1234440"/>
            <a:ext cx="15544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64748B"/>
                </a:solidFill>
                <a:latin typeface="JetBrains Mono"/>
              </a:rPr>
              <a:t>SOURCE 01 / 03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7680960" y="1828800"/>
            <a:ext cx="3566160" cy="31089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7589520" y="1719072"/>
            <a:ext cx="3749039" cy="32004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7498079" y="1600200"/>
            <a:ext cx="3931920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10789920" y="1444752"/>
            <a:ext cx="228600" cy="502920"/>
          </a:xfrm>
          <a:prstGeom prst="round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7726679" y="1828800"/>
            <a:ext cx="1645920" cy="219456"/>
          </a:xfrm>
          <a:prstGeom prst="round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726679" y="1847088"/>
            <a:ext cx="164592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JetBrains Mono"/>
              </a:rPr>
              <a:t>GOVT DISASTER AUDIT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509760" y="1847088"/>
            <a:ext cx="17373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750" b="0" i="0">
                <a:solidFill>
                  <a:srgbClr val="94A3B8"/>
                </a:solidFill>
                <a:latin typeface="JetBrains Mono"/>
              </a:rPr>
              <a:t>NDMA REPORT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726679" y="2148840"/>
            <a:ext cx="347472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i="0">
                <a:solidFill>
                  <a:srgbClr val="000000"/>
                </a:solidFill>
                <a:latin typeface="Plus Jakarta Sans"/>
              </a:rPr>
              <a:t>70% of single drones failed in mountain rescue operations.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7726679" y="2743200"/>
            <a:ext cx="347472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863840" y="2834640"/>
            <a:ext cx="320040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 i="1">
                <a:solidFill>
                  <a:srgbClr val="374151"/>
                </a:solidFill>
                <a:latin typeface="Inter"/>
              </a:rPr>
              <a:t>“In the Kedarnath and Wayanad rescue missions, single commercial drones lost connection behind ridges and crashed under thick tree canopy.”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726679" y="429768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  <a:latin typeface="JetBrains Mono"/>
              </a:rPr>
              <a:t>Ref: National Disaster Management Authority (NDMA)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7498079" y="5120640"/>
            <a:ext cx="548640" cy="73152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8138160" y="5120640"/>
            <a:ext cx="109728" cy="73152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8321040" y="5120640"/>
            <a:ext cx="109728" cy="73152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9144000" y="5047488"/>
            <a:ext cx="22860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750" b="0" i="0">
                <a:solidFill>
                  <a:srgbClr val="94A3B8"/>
                </a:solidFill>
                <a:latin typeface="JetBrains Mono"/>
              </a:rPr>
              <a:t>CONTINUOUS LOOP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31520" y="59436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31520" y="608076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JetBrains Mono"/>
              </a:rPr>
              <a:t>PAGE 02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58000" y="6080760"/>
            <a:ext cx="460217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 i="0">
                <a:solidFill>
                  <a:srgbClr val="0A1628"/>
                </a:solidFill>
                <a:latin typeface="JetBrains Mono"/>
              </a:rPr>
              <a:t>TEAM OFFGRID — PROJECT SUTRA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SUTRA Pitch Deck</dc:title>
  <dc:subject/>
  <dc:creator>Team Offgrid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