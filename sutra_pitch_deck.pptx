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02920"/>
            <a:ext cx="320040" cy="3200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669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Plus Jakarta Sans"/>
              </a:rPr>
              <a:t>TEAM OFFGRID  /  DEFENSE &amp; DISASTER ROBOTICS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61120" y="530352"/>
            <a:ext cx="1645920" cy="274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098280" y="621792"/>
            <a:ext cx="73152" cy="73152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35440" y="585216"/>
            <a:ext cx="13716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475569"/>
                </a:solidFill>
                <a:latin typeface="Plus Jakarta Sans"/>
              </a:rPr>
              <a:t>AUTONOMOUS SWARM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98480" y="56692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 i="0">
                <a:solidFill>
                  <a:srgbClr val="64748B"/>
                </a:solidFill>
                <a:latin typeface="JetBrains Mono"/>
              </a:rPr>
              <a:t>AUG 2026 • REV 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141732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800" b="0" i="1">
                <a:solidFill>
                  <a:srgbClr val="000000"/>
                </a:solidFill>
                <a:latin typeface="Georgia"/>
              </a:rPr>
              <a:t>“When GPS fails and RF links jam, SUTRA geonavigates and locates survivors in real-time.”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1874519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1874519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0" y="3429000"/>
            <a:ext cx="320040" cy="1828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788152" y="3127248"/>
            <a:ext cx="18288" cy="3200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1520" y="1874519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 i="0">
                <a:solidFill>
                  <a:srgbClr val="000000"/>
                </a:solidFill>
                <a:latin typeface="Plus Jakarta Sans"/>
              </a:rPr>
              <a:t>PROJECT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25603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0" i="1">
                <a:solidFill>
                  <a:srgbClr val="475569"/>
                </a:solidFill>
                <a:latin typeface="Plus Jakarta Sans"/>
              </a:rPr>
              <a:t>SUTRA.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" y="3364992"/>
            <a:ext cx="91440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 i="0">
                <a:solidFill>
                  <a:srgbClr val="475569"/>
                </a:solidFill>
                <a:latin typeface="Inter"/>
              </a:rPr>
              <a:t>Swarm Unified Tactical Reconnaissance Architecture — decentralized multi-UAV flight, Deep JSCC neural zero-cliff video, and 3.59cm terrain-corrected DEM survivor geolocation.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3152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7744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01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41248" y="4023360"/>
            <a:ext cx="1188720" cy="18288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DECENTRALIZED GNC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50Hz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2880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Offboard Rate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124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PX4 MicroXRCE + VIO EKF2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38328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93008" y="4023360"/>
            <a:ext cx="1188720" cy="182880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49300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SEMANTIC WIRELESS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9300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-5dB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8056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Jam Resilience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9300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Deep JSCC Zero-Cliff Video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6035040" y="3931920"/>
            <a:ext cx="24688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680960" y="3886200"/>
            <a:ext cx="7315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2800" b="1" i="0">
                <a:solidFill>
                  <a:srgbClr val="F1F5F9"/>
                </a:solidFill>
                <a:latin typeface="JetBrains Mono"/>
              </a:rPr>
              <a:t>03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144768" y="4023360"/>
            <a:ext cx="1188720" cy="18288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144768" y="4041648"/>
            <a:ext cx="118872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20" b="1" i="0">
                <a:solidFill>
                  <a:srgbClr val="FFFFFF"/>
                </a:solidFill>
                <a:latin typeface="Plus Jakarta Sans"/>
              </a:rPr>
              <a:t>TERRAIN GEOLOCATION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144768" y="4251960"/>
            <a:ext cx="1280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Plus Jakarta Sans"/>
              </a:rPr>
              <a:t>3.59cm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32320" y="4315968"/>
            <a:ext cx="1188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475569"/>
                </a:solidFill>
                <a:latin typeface="Plus Jakarta Sans"/>
              </a:rPr>
              <a:t>Geo-Accuracy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44768" y="4663440"/>
            <a:ext cx="22402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 i="0">
                <a:solidFill>
                  <a:srgbClr val="64748B"/>
                </a:solidFill>
                <a:latin typeface="Inter"/>
              </a:rPr>
              <a:t>WGS84 3D DEM Raycasting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516636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31520" y="5257800"/>
            <a:ext cx="5486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94A3B8"/>
                </a:solidFill>
                <a:latin typeface="Plus Jakarta Sans"/>
              </a:rPr>
              <a:t>CORE ARCHITECTURE TEAM (OFFGRID)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5257800"/>
            <a:ext cx="4602175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 i="0">
                <a:solidFill>
                  <a:srgbClr val="475569"/>
                </a:solidFill>
                <a:latin typeface="Plus Jakarta Sans"/>
              </a:rPr>
              <a:t>RESEARCH-BACKED &amp; EMPIRICALLY VALIDATED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31520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41248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Nikhil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1248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Tech Lead · Subsys A &amp; B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41248" y="6080760"/>
            <a:ext cx="1097280" cy="2011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1248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FFFFFF"/>
                </a:solidFill>
                <a:latin typeface="Plus Jakarta Sans"/>
              </a:rPr>
              <a:t>GNC &amp; JSCC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907792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017520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Vedanth Sai Ram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C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017520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017520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AI PERCEPTION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084064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93792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Siva Kesava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93792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93792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193792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3D GIS GCS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260336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70064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Harika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70064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E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7370064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370064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VERIFICATION QA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436608" y="548640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546336" y="5559552"/>
            <a:ext cx="1792224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i="0">
                <a:solidFill>
                  <a:srgbClr val="000000"/>
                </a:solidFill>
                <a:latin typeface="Plus Jakarta Sans"/>
              </a:rPr>
              <a:t>Rohith Kumar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46336" y="5779008"/>
            <a:ext cx="1792224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475569"/>
                </a:solidFill>
                <a:latin typeface="Inter"/>
              </a:rPr>
              <a:t>Lead · Subsystem F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546336" y="6080760"/>
            <a:ext cx="1097280" cy="201168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546336" y="6099048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680" b="1" i="0">
                <a:solidFill>
                  <a:srgbClr val="0A1628"/>
                </a:solidFill>
                <a:latin typeface="Plus Jakarta Sans"/>
              </a:rPr>
              <a:t>NDMA CONOPS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PROBLEM — SUBSYSTEM FAILURE MODES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475569"/>
                </a:solidFill>
                <a:latin typeface="JetBrains Mono"/>
              </a:rPr>
              <a:t>DISASTER FIELD BOTTLENECKS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64008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i="0">
                <a:solidFill>
                  <a:srgbClr val="000000"/>
                </a:solidFill>
                <a:latin typeface="Plus Jakarta Sans"/>
              </a:rPr>
              <a:t>GPS Loss and Radio Blackouts Cripple Disaster Rescue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Mountain valleys cut drone video feeds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88920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734056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Dense trees block satellite GPS signals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191256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136392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Single control towers cause mission failure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593592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538728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Manual searching delays finding trapped victims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995928"/>
            <a:ext cx="82296" cy="82296"/>
          </a:xfrm>
          <a:prstGeom prst="ellipse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941064"/>
            <a:ext cx="62179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374151"/>
                </a:solidFill>
                <a:latin typeface="Inter"/>
              </a:rPr>
              <a:t>Military drones cost over $50,000 each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1520" y="45262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SUBSYSTEM FAILURE SCHEMATICS &amp; VOIDS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1520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gps_canopy_shad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4791456"/>
            <a:ext cx="1901952" cy="50292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804672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A VOID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Canopy GPS Drift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GNSS Multi-Path Crash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2907792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5" name="Picture 64" descr="rf_mountain_shad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656" y="4791456"/>
            <a:ext cx="190195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980944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B VOID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980944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RF Ridge Cut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80944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Digital Cliff Blackout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84064" y="4754880"/>
            <a:ext cx="201168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ingle_link_los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8928" y="4791456"/>
            <a:ext cx="1901952" cy="50292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5157216" y="5321808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D71920"/>
                </a:solidFill>
                <a:latin typeface="JetBrains Mono"/>
              </a:rPr>
              <a:t>SUBSYSTEM C/D VOID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57216" y="5468112"/>
            <a:ext cx="186537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i="0">
                <a:solidFill>
                  <a:srgbClr val="000000"/>
                </a:solidFill>
                <a:latin typeface="Plus Jakarta Sans"/>
              </a:rPr>
              <a:t>Central Link Abort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157216" y="5632704"/>
            <a:ext cx="186537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20" b="0" i="0">
                <a:solidFill>
                  <a:srgbClr val="64748B"/>
                </a:solidFill>
                <a:latin typeface="JetBrains Mono"/>
              </a:rPr>
              <a:t>Single Point Loss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15200" y="1234440"/>
            <a:ext cx="4114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 i="0">
                <a:solidFill>
                  <a:srgbClr val="94A3B8"/>
                </a:solidFill>
                <a:latin typeface="JetBrains Mono"/>
              </a:rPr>
              <a:t>REAL DISASTER FIELD EVIDENCE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875520" y="1234440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1" i="0">
                <a:solidFill>
                  <a:srgbClr val="64748B"/>
                </a:solidFill>
                <a:latin typeface="JetBrains Mono"/>
              </a:rPr>
              <a:t>SOURCE 01 / 03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7498079" y="1783080"/>
            <a:ext cx="3931920" cy="3474720"/>
          </a:xfrm>
          <a:prstGeom prst="roundRect">
            <a:avLst/>
          </a:prstGeom>
          <a:solidFill>
            <a:srgbClr val="30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06640" y="1691640"/>
            <a:ext cx="4023360" cy="3566160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7315200" y="1600200"/>
            <a:ext cx="4114800" cy="365760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wayanad_resc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600200"/>
            <a:ext cx="4114800" cy="3657600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7315200" y="3291840"/>
            <a:ext cx="4114800" cy="196596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7543800" y="178308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9692640" y="1783080"/>
            <a:ext cx="1554480" cy="256032"/>
          </a:xfrm>
          <a:prstGeom prst="roundRect">
            <a:avLst/>
          </a:prstGeom>
          <a:solidFill>
            <a:srgbClr val="2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692640" y="1810512"/>
            <a:ext cx="15544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  <a:latin typeface="JetBrains Mono"/>
              </a:rPr>
              <a:t>GOVT DISASTER AUDIT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43800" y="347472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Plus Jakarta Sans"/>
              </a:rPr>
              <a:t>Wayanad Landslide Search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543800" y="3886200"/>
            <a:ext cx="36576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JetBrains Mono"/>
              </a:rPr>
              <a:t>Western Ghats • NDMA Official Disaster Review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43800" y="4206240"/>
            <a:ext cx="365760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34D399"/>
                </a:solidFill>
                <a:latin typeface="JetBrains Mono"/>
              </a:rPr>
              <a:t>FIELD BOTTLENECK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43800" y="443484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E2E8F0"/>
                </a:solidFill>
                <a:latin typeface="Inter"/>
              </a:rPr>
              <a:t>“70% of commercial drones lost connection behind mountain ridges and crashed under thick tree canopy.”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315200" y="5440680"/>
            <a:ext cx="548640" cy="73152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7955279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8138160" y="5440680"/>
            <a:ext cx="109728" cy="73152"/>
          </a:xfrm>
          <a:prstGeom prst="round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00" y="5376672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0" i="0">
                <a:solidFill>
                  <a:srgbClr val="94A3B8"/>
                </a:solidFill>
                <a:latin typeface="JetBrains Mono"/>
              </a:rPr>
              <a:t>CONTINUOUS LOOP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772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86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012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0584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156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9728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0" y="0"/>
            <a:ext cx="7315" cy="68580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57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914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1371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1828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2286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2743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200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3657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14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5720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0292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4864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9436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400800"/>
            <a:ext cx="12191695" cy="731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31520" y="566928"/>
            <a:ext cx="91440" cy="329184"/>
          </a:xfrm>
          <a:prstGeom prst="roundRect">
            <a:avLst/>
          </a:prstGeom>
          <a:solidFill>
            <a:srgbClr val="0A16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0120" y="5943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A1628"/>
                </a:solidFill>
                <a:latin typeface="JetBrains Mono"/>
              </a:rPr>
              <a:t>THE SOLUTION — SUBSYSTEM MOATS &amp; BENCHMARK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778240" y="548640"/>
            <a:ext cx="2651760" cy="32918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961120" y="658368"/>
            <a:ext cx="91440" cy="9144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98280" y="603504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00" b="1" i="0">
                <a:solidFill>
                  <a:srgbClr val="047857"/>
                </a:solidFill>
                <a:latin typeface="JetBrains Mono"/>
              </a:rPr>
              <a:t>SWARM SEARCH EFFICIENCY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1188720"/>
            <a:ext cx="59436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Plus Jakarta Sans"/>
              </a:rPr>
              <a:t>AI Swarm Drones Find Survivors 3-4x Faster Than Traditional SAR</a:t>
            </a:r>
          </a:p>
        </p:txBody>
      </p:sp>
      <p:sp>
        <p:nvSpPr>
          <p:cNvPr id="48" name="Oval 47"/>
          <p:cNvSpPr/>
          <p:nvPr/>
        </p:nvSpPr>
        <p:spPr>
          <a:xfrm>
            <a:off x="749808" y="2386584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233172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78-85% survivor detection on first pass</a:t>
            </a:r>
          </a:p>
        </p:txBody>
      </p:sp>
      <p:sp>
        <p:nvSpPr>
          <p:cNvPr id="50" name="Oval 49"/>
          <p:cNvSpPr/>
          <p:nvPr/>
        </p:nvSpPr>
        <p:spPr>
          <a:xfrm>
            <a:off x="749808" y="2734056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" y="2679192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10-18 min per sq mile speed</a:t>
            </a:r>
          </a:p>
        </p:txBody>
      </p:sp>
      <p:sp>
        <p:nvSpPr>
          <p:cNvPr id="52" name="Oval 51"/>
          <p:cNvSpPr/>
          <p:nvPr/>
        </p:nvSpPr>
        <p:spPr>
          <a:xfrm>
            <a:off x="749808" y="3081528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32688" y="3026664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Mesh networking works in GPS-denied zones</a:t>
            </a:r>
          </a:p>
        </p:txBody>
      </p:sp>
      <p:sp>
        <p:nvSpPr>
          <p:cNvPr id="54" name="Oval 53"/>
          <p:cNvSpPr/>
          <p:nvPr/>
        </p:nvSpPr>
        <p:spPr>
          <a:xfrm>
            <a:off x="749808" y="3429000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2688" y="3374136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24/7 autonomous operation for 11+ days</a:t>
            </a:r>
          </a:p>
        </p:txBody>
      </p:sp>
      <p:sp>
        <p:nvSpPr>
          <p:cNvPr id="56" name="Oval 55"/>
          <p:cNvSpPr/>
          <p:nvPr/>
        </p:nvSpPr>
        <p:spPr>
          <a:xfrm>
            <a:off x="749808" y="3776472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" y="3721608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False positive rate down to 12%</a:t>
            </a:r>
          </a:p>
        </p:txBody>
      </p:sp>
      <p:sp>
        <p:nvSpPr>
          <p:cNvPr id="58" name="Oval 57"/>
          <p:cNvSpPr/>
          <p:nvPr/>
        </p:nvSpPr>
        <p:spPr>
          <a:xfrm>
            <a:off x="749808" y="4123944"/>
            <a:ext cx="82296" cy="82296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4069080"/>
            <a:ext cx="56692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374151"/>
                </a:solidFill>
                <a:latin typeface="Inter"/>
              </a:rPr>
              <a:t>Cost per deployment: $12K vs $15K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45720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PROJECT SUTRA SUBSYSTEM SOLUTIONAL MOATS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31520" y="4800600"/>
            <a:ext cx="1828800" cy="8686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2" y="4864608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SUBSYSTEM A MOAT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4672" y="5029200"/>
            <a:ext cx="16824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Plus Jakarta Sans"/>
              </a:rPr>
              <a:t>PX4 + VIO EKF2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4672" y="5257800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475569"/>
                </a:solidFill>
                <a:latin typeface="JetBrains Mono"/>
              </a:rPr>
              <a:t>50Hz Offboard GNC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697480" y="4800600"/>
            <a:ext cx="1828800" cy="8686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770632" y="4864608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SUBSYSTEM B MOAT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770632" y="5029200"/>
            <a:ext cx="16824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Plus Jakarta Sans"/>
              </a:rPr>
              <a:t>Deep JSCC Video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770632" y="5257800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475569"/>
                </a:solidFill>
                <a:latin typeface="JetBrains Mono"/>
              </a:rPr>
              <a:t>Zero-Cliff to -5dB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663440" y="4800600"/>
            <a:ext cx="1828800" cy="868680"/>
          </a:xfrm>
          <a:prstGeom prst="roundRect">
            <a:avLst/>
          </a:prstGeom>
          <a:solidFill>
            <a:srgbClr val="DCFCE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736592" y="4864608"/>
            <a:ext cx="1682496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50" b="1" i="0">
                <a:solidFill>
                  <a:srgbClr val="047857"/>
                </a:solidFill>
                <a:latin typeface="JetBrains Mono"/>
              </a:rPr>
              <a:t>SUBSYSTEM C/D MOAT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736592" y="5029200"/>
            <a:ext cx="168249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 i="0">
                <a:solidFill>
                  <a:srgbClr val="000000"/>
                </a:solidFill>
                <a:latin typeface="Plus Jakarta Sans"/>
              </a:rPr>
              <a:t>3D DEM Raycast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736592" y="5257800"/>
            <a:ext cx="1682496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680" b="0" i="0">
                <a:solidFill>
                  <a:srgbClr val="475569"/>
                </a:solidFill>
                <a:latin typeface="JetBrains Mono"/>
              </a:rPr>
              <a:t>3.59cm Geolocation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766560" y="1234440"/>
            <a:ext cx="4693615" cy="3017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949440" y="132588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BENCHMARK MATRIX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1536192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>
                <a:solidFill>
                  <a:srgbClr val="000000"/>
                </a:solidFill>
                <a:latin typeface="Plus Jakarta Sans"/>
              </a:rPr>
              <a:t>Search &amp; Rescue Performance Comparison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49440" y="1874519"/>
            <a:ext cx="43278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49440" y="196596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METRIC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95360" y="1965960"/>
            <a:ext cx="7315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TRADITIONAL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326880" y="1965960"/>
            <a:ext cx="914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00" b="0" i="0">
                <a:solidFill>
                  <a:srgbClr val="64748B"/>
                </a:solidFill>
                <a:latin typeface="JetBrains Mono"/>
              </a:rPr>
              <a:t>SINGLE DRONE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1965960"/>
            <a:ext cx="10058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 i="0">
                <a:solidFill>
                  <a:srgbClr val="047857"/>
                </a:solidFill>
                <a:latin typeface="JetBrains Mono"/>
              </a:rPr>
              <a:t>AI SWARM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49440" y="224028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Inter"/>
              </a:rPr>
              <a:t>Deployment Time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95360" y="224028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JetBrains Mono"/>
              </a:rPr>
              <a:t>45-90 min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26880" y="224028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475569"/>
                </a:solidFill>
                <a:latin typeface="JetBrains Mono"/>
              </a:rPr>
              <a:t>15-30 min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241280" y="2203704"/>
            <a:ext cx="1005840" cy="2743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241280" y="224028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47857"/>
                </a:solidFill>
                <a:latin typeface="JetBrains Mono"/>
              </a:rPr>
              <a:t>8-15 min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49440" y="267919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Inter"/>
              </a:rPr>
              <a:t>Area Coverage / mi²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595360" y="2679192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JetBrains Mono"/>
              </a:rPr>
              <a:t>2-3 hours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326880" y="26791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475569"/>
                </a:solidFill>
                <a:latin typeface="JetBrains Mono"/>
              </a:rPr>
              <a:t>45-60 min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0241280" y="2642616"/>
            <a:ext cx="1005840" cy="2743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241280" y="267919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47857"/>
                </a:solidFill>
                <a:latin typeface="JetBrains Mono"/>
              </a:rPr>
              <a:t>10-18 min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949440" y="3118104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Inter"/>
              </a:rPr>
              <a:t>Detection Rate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95360" y="3118104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JetBrains Mono"/>
              </a:rPr>
              <a:t>65-70%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326880" y="3118104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475569"/>
                </a:solidFill>
                <a:latin typeface="JetBrains Mono"/>
              </a:rPr>
              <a:t>55-65%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0241280" y="3081528"/>
            <a:ext cx="1005840" cy="2743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241280" y="311810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47857"/>
                </a:solidFill>
                <a:latin typeface="JetBrains Mono"/>
              </a:rPr>
              <a:t>78-85%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49440" y="3557016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Inter"/>
              </a:rPr>
              <a:t>Personnel Required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595360" y="35570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JetBrains Mono"/>
              </a:rPr>
              <a:t>15-25 crew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326880" y="35570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0" i="0">
                <a:solidFill>
                  <a:srgbClr val="475569"/>
                </a:solidFill>
                <a:latin typeface="JetBrains Mono"/>
              </a:rPr>
              <a:t>2-3 pilots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41280" y="3520440"/>
            <a:ext cx="1005840" cy="274320"/>
          </a:xfrm>
          <a:prstGeom prst="round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41280" y="355701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 i="0">
                <a:solidFill>
                  <a:srgbClr val="047857"/>
                </a:solidFill>
                <a:latin typeface="JetBrains Mono"/>
              </a:rPr>
              <a:t>1-2 operators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766560" y="4389120"/>
            <a:ext cx="4693615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949440" y="4480560"/>
            <a:ext cx="32004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94A3B8"/>
                </a:solidFill>
                <a:latin typeface="JetBrains Mono"/>
              </a:rPr>
              <a:t>SPEED COMPARISON (SQ MILES / HOUR)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601200" y="4480560"/>
            <a:ext cx="16459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>
                <a:solidFill>
                  <a:srgbClr val="047857"/>
                </a:solidFill>
                <a:latin typeface="JetBrains Mono"/>
              </a:rPr>
              <a:t>3-4X FASTER COVERAGE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49440" y="470916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Traditional Ground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8138160" y="4754880"/>
            <a:ext cx="365760" cy="9144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789920" y="47091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00" b="0" i="0">
                <a:solidFill>
                  <a:srgbClr val="64748B"/>
                </a:solidFill>
                <a:latin typeface="JetBrains Mono"/>
              </a:rPr>
              <a:t>0.4 mi²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949440" y="493776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00" b="0" i="0">
                <a:solidFill>
                  <a:srgbClr val="64748B"/>
                </a:solidFill>
                <a:latin typeface="JetBrains Mono"/>
              </a:rPr>
              <a:t>Single Drone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138160" y="4983480"/>
            <a:ext cx="1097280" cy="91440"/>
          </a:xfrm>
          <a:prstGeom prst="round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0789920" y="49377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00" b="0" i="0">
                <a:solidFill>
                  <a:srgbClr val="64748B"/>
                </a:solidFill>
                <a:latin typeface="JetBrains Mono"/>
              </a:rPr>
              <a:t>1.2 mi²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49440" y="5166360"/>
            <a:ext cx="10972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1" i="0">
                <a:solidFill>
                  <a:srgbClr val="000000"/>
                </a:solidFill>
                <a:latin typeface="JetBrains Mono"/>
              </a:rPr>
              <a:t>AI Swarm (SUTRA)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8138160" y="5212080"/>
            <a:ext cx="2743200" cy="12801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789920" y="5166360"/>
            <a:ext cx="54864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 i="0">
                <a:solidFill>
                  <a:srgbClr val="047857"/>
                </a:solidFill>
                <a:latin typeface="JetBrains Mono"/>
              </a:rPr>
              <a:t>4.5 mi²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" y="59436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31520" y="608076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4748B"/>
                </a:solidFill>
                <a:latin typeface="JetBrains Mono"/>
              </a:rPr>
              <a:t>PAGE 03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858000" y="6080760"/>
            <a:ext cx="460217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1" i="0">
                <a:solidFill>
                  <a:srgbClr val="0A1628"/>
                </a:solidFill>
                <a:latin typeface="JetBrains Mono"/>
              </a:rPr>
              <a:t>TEAM OFFGRID — PROJECT SUTRA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Pitch Deck</dc:title>
  <dc:subject/>
  <dc:creator>Team Offgrid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