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502920"/>
            <a:ext cx="320040" cy="32004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3000" y="5669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Plus Jakarta Sans"/>
              </a:rPr>
              <a:t>TEAM OFFGRID  /  DEFENSE &amp; DISASTER ROBOTICS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61120" y="530352"/>
            <a:ext cx="16459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098280" y="621792"/>
            <a:ext cx="73152" cy="73152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5440" y="585216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475569"/>
                </a:solidFill>
                <a:latin typeface="Plus Jakarta Sans"/>
              </a:rPr>
              <a:t>AUTONOMOUS SWARM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0" y="56692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 i="0">
                <a:solidFill>
                  <a:srgbClr val="64748B"/>
                </a:solidFill>
                <a:latin typeface="JetBrains Mono"/>
              </a:rPr>
              <a:t>AUG 2026 • REV 1.0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14173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 i="1">
                <a:solidFill>
                  <a:srgbClr val="000000"/>
                </a:solidFill>
                <a:latin typeface="Georgia"/>
              </a:rPr>
              <a:t>“When GPS fails and RF links jam, SUTRA geonavigates and locates survivors in real-time.”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1874519"/>
            <a:ext cx="320040" cy="182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1874519"/>
            <a:ext cx="18288" cy="3200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486400" y="3429000"/>
            <a:ext cx="320040" cy="182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788152" y="3127248"/>
            <a:ext cx="18288" cy="3200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1874519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1" i="0">
                <a:solidFill>
                  <a:srgbClr val="000000"/>
                </a:solidFill>
                <a:latin typeface="Plus Jakarta Sans"/>
              </a:rPr>
              <a:t>PROJECT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2560320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0" i="1">
                <a:solidFill>
                  <a:srgbClr val="475569"/>
                </a:solidFill>
                <a:latin typeface="Plus Jakarta Sans"/>
              </a:rPr>
              <a:t>SUTRA.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" y="3364992"/>
            <a:ext cx="91440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Inter"/>
              </a:rPr>
              <a:t>Swarm Unified Tactical Reconnaissance Architecture — decentralized multi-UAV flight, Deep JSCC neural zero-cliff video, and 3.59cm terrain-corrected DEM survivor geolocation.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152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37744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01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41248" y="4023360"/>
            <a:ext cx="1188720" cy="18288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124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Plus Jakarta Sans"/>
              </a:rPr>
              <a:t>DECENTRALIZED GNC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Plus Jakarta Sans"/>
              </a:rPr>
              <a:t>50Hz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Plus Jakarta Sans"/>
              </a:rPr>
              <a:t>Offboard Rate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124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PX4 MicroXRCE + VIO EKF2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38328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02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493008" y="4023360"/>
            <a:ext cx="1188720" cy="182880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49300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Plus Jakarta Sans"/>
              </a:rPr>
              <a:t>SEMANTIC WIRELESS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49300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Plus Jakarta Sans"/>
              </a:rPr>
              <a:t>-5dB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8056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Plus Jakarta Sans"/>
              </a:rPr>
              <a:t>Jam Resilience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9300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Deep JSCC Zero-Cliff Video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03504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68096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03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144768" y="4023360"/>
            <a:ext cx="1188720" cy="18288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4476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Plus Jakarta Sans"/>
              </a:rPr>
              <a:t>TERRAIN GEOLOCATION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4476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Plus Jakarta Sans"/>
              </a:rPr>
              <a:t>3.59cm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3232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Plus Jakarta Sans"/>
              </a:rPr>
              <a:t>Geo-Accuracy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4476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WGS84 3D DEM Raycasting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51663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31520" y="5257800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94A3B8"/>
                </a:solidFill>
                <a:latin typeface="Plus Jakarta Sans"/>
              </a:rPr>
              <a:t>CORE ARCHITECTURE TEAM (OFFGRID)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58000" y="5257800"/>
            <a:ext cx="4602175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 i="0">
                <a:solidFill>
                  <a:srgbClr val="475569"/>
                </a:solidFill>
                <a:latin typeface="Plus Jakarta Sans"/>
              </a:rPr>
              <a:t>RESEARCH-BACKED &amp; EMPIRICALLY VALIDATED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31520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41248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Nikhil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1248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Tech Lead · Subsys A &amp; B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41248" y="6080760"/>
            <a:ext cx="1097280" cy="201168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41248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Plus Jakarta Sans"/>
              </a:rPr>
              <a:t>GNC &amp; JSCC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2907792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17520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Vedanth Sai Ram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017520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C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017520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017520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AI PERCEPTION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084064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193792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Siva Kesava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193792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D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193792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193792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3D GIS GCS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260336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70064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Harika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370064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E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370064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370064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VERIFICATION QA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436608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546336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Rohith Kumar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546336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F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546336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546336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NDMA CONOPS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566928"/>
            <a:ext cx="91440" cy="329184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59436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0A1628"/>
                </a:solidFill>
                <a:latin typeface="JetBrains Mono"/>
              </a:rPr>
              <a:t>THE PROBLEM — SUBSYSTEM FAILURE MODES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778240" y="548640"/>
            <a:ext cx="2651760" cy="32918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961120" y="658368"/>
            <a:ext cx="91440" cy="91440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98280" y="603504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1" i="0">
                <a:solidFill>
                  <a:srgbClr val="475569"/>
                </a:solidFill>
                <a:latin typeface="JetBrains Mono"/>
              </a:rPr>
              <a:t>DISASTER FIELD BOTTLENECKS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118872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 i="0">
                <a:solidFill>
                  <a:srgbClr val="000000"/>
                </a:solidFill>
                <a:latin typeface="Plus Jakarta Sans"/>
              </a:rPr>
              <a:t>GPS Loss and Radio Blackouts Cripple Disaster Rescue</a:t>
            </a:r>
          </a:p>
        </p:txBody>
      </p:sp>
      <p:sp>
        <p:nvSpPr>
          <p:cNvPr id="48" name="Oval 47"/>
          <p:cNvSpPr/>
          <p:nvPr/>
        </p:nvSpPr>
        <p:spPr>
          <a:xfrm>
            <a:off x="749808" y="2386584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2331720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374151"/>
                </a:solidFill>
                <a:latin typeface="Inter"/>
              </a:rPr>
              <a:t>Mountain valleys cut drone video feeds</a:t>
            </a:r>
          </a:p>
        </p:txBody>
      </p:sp>
      <p:sp>
        <p:nvSpPr>
          <p:cNvPr id="50" name="Oval 49"/>
          <p:cNvSpPr/>
          <p:nvPr/>
        </p:nvSpPr>
        <p:spPr>
          <a:xfrm>
            <a:off x="749808" y="2788920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32688" y="2734056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374151"/>
                </a:solidFill>
                <a:latin typeface="Inter"/>
              </a:rPr>
              <a:t>Dense trees block satellite GPS signals</a:t>
            </a:r>
          </a:p>
        </p:txBody>
      </p:sp>
      <p:sp>
        <p:nvSpPr>
          <p:cNvPr id="52" name="Oval 51"/>
          <p:cNvSpPr/>
          <p:nvPr/>
        </p:nvSpPr>
        <p:spPr>
          <a:xfrm>
            <a:off x="749808" y="3191256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32688" y="3136392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374151"/>
                </a:solidFill>
                <a:latin typeface="Inter"/>
              </a:rPr>
              <a:t>Single control towers cause mission failure</a:t>
            </a:r>
          </a:p>
        </p:txBody>
      </p:sp>
      <p:sp>
        <p:nvSpPr>
          <p:cNvPr id="54" name="Oval 53"/>
          <p:cNvSpPr/>
          <p:nvPr/>
        </p:nvSpPr>
        <p:spPr>
          <a:xfrm>
            <a:off x="749808" y="3593592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32688" y="3538728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374151"/>
                </a:solidFill>
                <a:latin typeface="Inter"/>
              </a:rPr>
              <a:t>Manual searching delays finding trapped victims</a:t>
            </a:r>
          </a:p>
        </p:txBody>
      </p:sp>
      <p:sp>
        <p:nvSpPr>
          <p:cNvPr id="56" name="Oval 55"/>
          <p:cNvSpPr/>
          <p:nvPr/>
        </p:nvSpPr>
        <p:spPr>
          <a:xfrm>
            <a:off x="749808" y="3995928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32688" y="3941064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374151"/>
                </a:solidFill>
                <a:latin typeface="Inter"/>
              </a:rPr>
              <a:t>Military drones cost over $50,000 each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1520" y="4526280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94A3B8"/>
                </a:solidFill>
                <a:latin typeface="JetBrains Mono"/>
              </a:rPr>
              <a:t>SUBSYSTEM FAILURE SCHEMATICS &amp; VOIDS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31520" y="475488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gps_canopy_shad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4791456"/>
            <a:ext cx="1901952" cy="50292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804672" y="5321808"/>
            <a:ext cx="18653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D71920"/>
                </a:solidFill>
                <a:latin typeface="JetBrains Mono"/>
              </a:rPr>
              <a:t>SUBSYSTEM A VOID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4672" y="5468112"/>
            <a:ext cx="186537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Plus Jakarta Sans"/>
              </a:rPr>
              <a:t>Canopy GPS Drift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4672" y="5632704"/>
            <a:ext cx="18653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20" b="0" i="0">
                <a:solidFill>
                  <a:srgbClr val="64748B"/>
                </a:solidFill>
                <a:latin typeface="JetBrains Mono"/>
              </a:rPr>
              <a:t>GNSS Multi-Path Crash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907792" y="475488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rf_mountain_shado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2656" y="4791456"/>
            <a:ext cx="1901952" cy="50292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2980944" y="5321808"/>
            <a:ext cx="18653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D71920"/>
                </a:solidFill>
                <a:latin typeface="JetBrains Mono"/>
              </a:rPr>
              <a:t>SUBSYSTEM B VOID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980944" y="5468112"/>
            <a:ext cx="186537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Plus Jakarta Sans"/>
              </a:rPr>
              <a:t>RF Ridge Cut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980944" y="5632704"/>
            <a:ext cx="18653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20" b="0" i="0">
                <a:solidFill>
                  <a:srgbClr val="64748B"/>
                </a:solidFill>
                <a:latin typeface="JetBrains Mono"/>
              </a:rPr>
              <a:t>Digital Cliff Blackout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84064" y="475488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ingle_link_los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8928" y="4791456"/>
            <a:ext cx="1901952" cy="50292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5157216" y="5321808"/>
            <a:ext cx="18653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D71920"/>
                </a:solidFill>
                <a:latin typeface="JetBrains Mono"/>
              </a:rPr>
              <a:t>SUBSYSTEM C/D VOID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157216" y="5468112"/>
            <a:ext cx="186537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Plus Jakarta Sans"/>
              </a:rPr>
              <a:t>Central Link Abort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157216" y="5632704"/>
            <a:ext cx="18653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20" b="0" i="0">
                <a:solidFill>
                  <a:srgbClr val="64748B"/>
                </a:solidFill>
                <a:latin typeface="JetBrains Mono"/>
              </a:rPr>
              <a:t>Single Point Loss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15200" y="1234440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94A3B8"/>
                </a:solidFill>
                <a:latin typeface="JetBrains Mono"/>
              </a:rPr>
              <a:t>REAL DISASTER FIELD EVIDENCE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875520" y="1234440"/>
            <a:ext cx="15544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64748B"/>
                </a:solidFill>
                <a:latin typeface="JetBrains Mono"/>
              </a:rPr>
              <a:t>SOURCE 01 / 03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7498079" y="1783080"/>
            <a:ext cx="3931920" cy="3474720"/>
          </a:xfrm>
          <a:prstGeom prst="roundRect">
            <a:avLst/>
          </a:prstGeom>
          <a:solidFill>
            <a:srgbClr val="30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7406640" y="1691640"/>
            <a:ext cx="4023360" cy="356616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7315200" y="1600200"/>
            <a:ext cx="4114800" cy="365760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wayanad_rescu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1600200"/>
            <a:ext cx="4114800" cy="3657600"/>
          </a:xfrm>
          <a:prstGeom prst="rect">
            <a:avLst/>
          </a:prstGeom>
        </p:spPr>
      </p:pic>
      <p:sp>
        <p:nvSpPr>
          <p:cNvPr id="80" name="Rectangle 79"/>
          <p:cNvSpPr/>
          <p:nvPr/>
        </p:nvSpPr>
        <p:spPr>
          <a:xfrm>
            <a:off x="7315200" y="3291840"/>
            <a:ext cx="4114800" cy="196596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7543800" y="1783080"/>
            <a:ext cx="365760" cy="36576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9692640" y="1783080"/>
            <a:ext cx="1554480" cy="256032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692640" y="1810512"/>
            <a:ext cx="15544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JetBrains Mono"/>
              </a:rPr>
              <a:t>GOVT DISASTER AUDIT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543800" y="3474720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Plus Jakarta Sans"/>
              </a:rPr>
              <a:t>Wayanad Landslide Search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543800" y="388620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JetBrains Mono"/>
              </a:rPr>
              <a:t>Western Ghats • NDMA Official Disaster Review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543800" y="4206240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34D399"/>
                </a:solidFill>
                <a:latin typeface="JetBrains Mono"/>
              </a:rPr>
              <a:t>FIELD BOTTLENECK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543800" y="4434840"/>
            <a:ext cx="3657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E2E8F0"/>
                </a:solidFill>
                <a:latin typeface="Inter"/>
              </a:rPr>
              <a:t>“70% of commercial drones lost connection behind mountain ridges and crashed under thick tree canopy.”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315200" y="5440680"/>
            <a:ext cx="548640" cy="7315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7955279" y="5440680"/>
            <a:ext cx="109728" cy="73152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8138160" y="5440680"/>
            <a:ext cx="109728" cy="73152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144000" y="5376672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0" i="0">
                <a:solidFill>
                  <a:srgbClr val="94A3B8"/>
                </a:solidFill>
                <a:latin typeface="JetBrains Mono"/>
              </a:rPr>
              <a:t>CONTINUOUS LOOP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31520" y="59436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31520" y="60807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JetBrains Mono"/>
              </a:rPr>
              <a:t>PAGE 02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58000" y="6080760"/>
            <a:ext cx="460217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0A1628"/>
                </a:solidFill>
                <a:latin typeface="JetBrains Mono"/>
              </a:rPr>
              <a:t>TEAM OFFGRID — PROJECT SUTRA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566928"/>
            <a:ext cx="91440" cy="329184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59436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0A1628"/>
                </a:solidFill>
                <a:latin typeface="JetBrains Mono"/>
              </a:rPr>
              <a:t>THE SOLUTION — SUBSYSTEM MOATS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778240" y="548640"/>
            <a:ext cx="2651760" cy="32918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961120" y="658368"/>
            <a:ext cx="91440" cy="91440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98280" y="603504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1" i="0">
                <a:solidFill>
                  <a:srgbClr val="047857"/>
                </a:solidFill>
                <a:latin typeface="JetBrains Mono"/>
              </a:rPr>
              <a:t>SWARM SEARCH EFFICIENCY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118872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 i="0">
                <a:solidFill>
                  <a:srgbClr val="000000"/>
                </a:solidFill>
                <a:latin typeface="Plus Jakarta Sans"/>
              </a:rPr>
              <a:t>AI Swarm Drones Find Survivors 3-4x Faster Than Traditional SAR</a:t>
            </a:r>
          </a:p>
        </p:txBody>
      </p:sp>
      <p:sp>
        <p:nvSpPr>
          <p:cNvPr id="48" name="Oval 47"/>
          <p:cNvSpPr/>
          <p:nvPr/>
        </p:nvSpPr>
        <p:spPr>
          <a:xfrm>
            <a:off x="749808" y="2295144"/>
            <a:ext cx="91440" cy="91440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0120" y="2240280"/>
            <a:ext cx="47548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374151"/>
                </a:solidFill>
                <a:latin typeface="Inter"/>
              </a:rPr>
              <a:t>78-85% survivor detection on first pass</a:t>
            </a:r>
          </a:p>
        </p:txBody>
      </p:sp>
      <p:sp>
        <p:nvSpPr>
          <p:cNvPr id="50" name="Oval 49"/>
          <p:cNvSpPr/>
          <p:nvPr/>
        </p:nvSpPr>
        <p:spPr>
          <a:xfrm>
            <a:off x="749808" y="2679192"/>
            <a:ext cx="91440" cy="91440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0120" y="2624328"/>
            <a:ext cx="47548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374151"/>
                </a:solidFill>
                <a:latin typeface="Inter"/>
              </a:rPr>
              <a:t>Mesh networking works in GPS-denied zones</a:t>
            </a:r>
          </a:p>
        </p:txBody>
      </p:sp>
      <p:sp>
        <p:nvSpPr>
          <p:cNvPr id="52" name="Oval 51"/>
          <p:cNvSpPr/>
          <p:nvPr/>
        </p:nvSpPr>
        <p:spPr>
          <a:xfrm>
            <a:off x="749808" y="3063240"/>
            <a:ext cx="91440" cy="91440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0120" y="3008376"/>
            <a:ext cx="47548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374151"/>
                </a:solidFill>
                <a:latin typeface="Inter"/>
              </a:rPr>
              <a:t>False positive rate down to 12%</a:t>
            </a:r>
          </a:p>
        </p:txBody>
      </p:sp>
      <p:sp>
        <p:nvSpPr>
          <p:cNvPr id="54" name="Oval 53"/>
          <p:cNvSpPr/>
          <p:nvPr/>
        </p:nvSpPr>
        <p:spPr>
          <a:xfrm>
            <a:off x="6236208" y="2295144"/>
            <a:ext cx="91440" cy="91440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46520" y="2240280"/>
            <a:ext cx="47548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374151"/>
                </a:solidFill>
                <a:latin typeface="Inter"/>
              </a:rPr>
              <a:t>10-18 min per sq mile speed</a:t>
            </a:r>
          </a:p>
        </p:txBody>
      </p:sp>
      <p:sp>
        <p:nvSpPr>
          <p:cNvPr id="56" name="Oval 55"/>
          <p:cNvSpPr/>
          <p:nvPr/>
        </p:nvSpPr>
        <p:spPr>
          <a:xfrm>
            <a:off x="6236208" y="2679192"/>
            <a:ext cx="91440" cy="91440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46520" y="2624328"/>
            <a:ext cx="47548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374151"/>
                </a:solidFill>
                <a:latin typeface="Inter"/>
              </a:rPr>
              <a:t>24/7 autonomous operation for 11+ days</a:t>
            </a:r>
          </a:p>
        </p:txBody>
      </p:sp>
      <p:sp>
        <p:nvSpPr>
          <p:cNvPr id="58" name="Oval 57"/>
          <p:cNvSpPr/>
          <p:nvPr/>
        </p:nvSpPr>
        <p:spPr>
          <a:xfrm>
            <a:off x="6236208" y="3063240"/>
            <a:ext cx="91440" cy="91440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46520" y="3008376"/>
            <a:ext cx="47548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374151"/>
                </a:solidFill>
                <a:latin typeface="Inter"/>
              </a:rPr>
              <a:t>Cost per deployment: $12K vs $15K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" y="3566160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94A3B8"/>
                </a:solidFill>
                <a:latin typeface="JetBrains Mono"/>
              </a:rPr>
              <a:t>PROJECT SUTRA SUBSYSTEM SOLUTIONAL MOATS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29600" y="356616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 i="0">
                <a:solidFill>
                  <a:srgbClr val="047857"/>
                </a:solidFill>
                <a:latin typeface="JetBrains Mono"/>
              </a:rPr>
              <a:t>3 CORE ENGINEERING MOATS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1520" y="3794760"/>
            <a:ext cx="3429000" cy="11887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68680" y="3858768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1" i="0">
                <a:solidFill>
                  <a:srgbClr val="047857"/>
                </a:solidFill>
                <a:latin typeface="JetBrains Mono"/>
              </a:rPr>
              <a:t>SUBSYSTEM A MOAT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834640" y="3858768"/>
            <a:ext cx="1188720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834640" y="387705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50" b="1" i="0">
                <a:solidFill>
                  <a:srgbClr val="047857"/>
                </a:solidFill>
                <a:latin typeface="JetBrains Mono"/>
              </a:rPr>
              <a:t>50Hz OFFBOARD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8680" y="4069080"/>
            <a:ext cx="3154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Plus Jakarta Sans"/>
              </a:rPr>
              <a:t>PX4 + VIO EKF2 Autopilot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8680" y="4343400"/>
            <a:ext cx="31546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19" b="0" i="0">
                <a:solidFill>
                  <a:srgbClr val="475569"/>
                </a:solidFill>
                <a:latin typeface="Inter"/>
              </a:rPr>
              <a:t>Decentralized 3D ORCA anti-collision and offboard setpoint streaming without ground control tower dependency.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379976" y="3794760"/>
            <a:ext cx="3429000" cy="11887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17136" y="3858768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1" i="0">
                <a:solidFill>
                  <a:srgbClr val="047857"/>
                </a:solidFill>
                <a:latin typeface="JetBrains Mono"/>
              </a:rPr>
              <a:t>SUBSYSTEM B MOAT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483096" y="3858768"/>
            <a:ext cx="1188720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83096" y="387705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50" b="1" i="0">
                <a:solidFill>
                  <a:srgbClr val="047857"/>
                </a:solidFill>
                <a:latin typeface="JetBrains Mono"/>
              </a:rPr>
              <a:t>-5dB RESILIENT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17136" y="4069080"/>
            <a:ext cx="3154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Plus Jakarta Sans"/>
              </a:rPr>
              <a:t>Deep JSCC Neural Video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517136" y="4343400"/>
            <a:ext cx="31546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19" b="0" i="0">
                <a:solidFill>
                  <a:srgbClr val="475569"/>
                </a:solidFill>
                <a:latin typeface="Inter"/>
              </a:rPr>
              <a:t>Zero-cliff neural semantic video encoding that degrades gracefully under extreme radio jamming and ravine occlusion.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028432" y="3794760"/>
            <a:ext cx="3429000" cy="11887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65592" y="3858768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1" i="0">
                <a:solidFill>
                  <a:srgbClr val="047857"/>
                </a:solidFill>
                <a:latin typeface="JetBrains Mono"/>
              </a:rPr>
              <a:t>SUBSYSTEM C/D MOAT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131552" y="3858768"/>
            <a:ext cx="1188720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131552" y="387705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50" b="1" i="0">
                <a:solidFill>
                  <a:srgbClr val="047857"/>
                </a:solidFill>
                <a:latin typeface="JetBrains Mono"/>
              </a:rPr>
              <a:t>3.59cm ACCURACY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65592" y="4069080"/>
            <a:ext cx="3154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Plus Jakarta Sans"/>
              </a:rPr>
              <a:t>3D DEM Terrain Raycasting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65592" y="4343400"/>
            <a:ext cx="31546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19" b="0" i="0">
                <a:solidFill>
                  <a:srgbClr val="475569"/>
                </a:solidFill>
                <a:latin typeface="Inter"/>
              </a:rPr>
              <a:t>Sub-15ms edge YOLOv8-Pose with WGS84 elevation raycasting, eliminating 15-30m flat-Earth geolocation errors.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31520" y="5120640"/>
            <a:ext cx="2514600" cy="65836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2960" y="5166360"/>
            <a:ext cx="23317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 i="0">
                <a:solidFill>
                  <a:srgbClr val="000000"/>
                </a:solidFill>
                <a:latin typeface="Plus Jakarta Sans"/>
              </a:rPr>
              <a:t>$8.94B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2960" y="5394960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00" b="0" i="0">
                <a:solidFill>
                  <a:srgbClr val="64748B"/>
                </a:solidFill>
                <a:latin typeface="JetBrains Mono"/>
              </a:rPr>
              <a:t>Market by 2033 (18.4% CAGR)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465576" y="5120640"/>
            <a:ext cx="2514600" cy="65836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557016" y="5166360"/>
            <a:ext cx="23317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 i="0">
                <a:solidFill>
                  <a:srgbClr val="000000"/>
                </a:solidFill>
                <a:latin typeface="Plus Jakarta Sans"/>
              </a:rPr>
              <a:t>+412%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557016" y="5394960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00" b="0" i="0">
                <a:solidFill>
                  <a:srgbClr val="64748B"/>
                </a:solidFill>
                <a:latin typeface="JetBrains Mono"/>
              </a:rPr>
              <a:t>Disaster Surge in 20 Yrs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199632" y="5120640"/>
            <a:ext cx="2514600" cy="65836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291072" y="5166360"/>
            <a:ext cx="23317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 i="0">
                <a:solidFill>
                  <a:srgbClr val="000000"/>
                </a:solidFill>
                <a:latin typeface="Plus Jakarta Sans"/>
              </a:rPr>
              <a:t>37 Nations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291072" y="5394960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00" b="0" i="0">
                <a:solidFill>
                  <a:srgbClr val="64748B"/>
                </a:solidFill>
                <a:latin typeface="JetBrains Mono"/>
              </a:rPr>
              <a:t>Mandating SAR Drones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8933688" y="5120640"/>
            <a:ext cx="2514600" cy="65836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025128" y="5166360"/>
            <a:ext cx="23317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 i="0">
                <a:solidFill>
                  <a:srgbClr val="000000"/>
                </a:solidFill>
                <a:latin typeface="Plus Jakarta Sans"/>
              </a:rPr>
              <a:t>$180M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025128" y="5394960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00" b="0" i="0">
                <a:solidFill>
                  <a:srgbClr val="64748B"/>
                </a:solidFill>
                <a:latin typeface="JetBrains Mono"/>
              </a:rPr>
              <a:t>FEMA 2025 Allocation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31520" y="59436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31520" y="60807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JetBrains Mono"/>
              </a:rPr>
              <a:t>PAGE 03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58000" y="6080760"/>
            <a:ext cx="460217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0A1628"/>
                </a:solidFill>
                <a:latin typeface="JetBrains Mono"/>
              </a:rPr>
              <a:t>TEAM OFFGRID — PROJECT SUTRA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SUTRA Pitch Deck</dc:title>
  <dc:subject/>
  <dc:creator>Team Offgrid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