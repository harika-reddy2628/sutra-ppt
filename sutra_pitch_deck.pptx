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Space Grotesk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9090B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9090B"/>
                </a:solidFill>
                <a:latin typeface="Space Grotesk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Space Grotesk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Space Grotesk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Space Grotesk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Space Grotesk"/>
              </a:rPr>
              <a:t>GNC &amp; COMMS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Operations Lead · Subsys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Space Grotesk"/>
              </a:rPr>
              <a:t>AUDIT &amp; OPS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FIELD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438912"/>
            <a:ext cx="73152" cy="27432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JetBrains Mono"/>
              </a:rPr>
              <a:t>THE PROBLEM — 4 SUBSYSTEM FAILURE VOIDS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438912"/>
            <a:ext cx="246888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530352"/>
            <a:ext cx="73152" cy="73152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47548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E11D48"/>
                </a:solidFill>
                <a:latin typeface="JetBrains Mono"/>
              </a:rPr>
              <a:t>FIELD DISASTER AUDIT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868680"/>
            <a:ext cx="6858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09090B"/>
                </a:solidFill>
                <a:latin typeface="Space Grotesk"/>
              </a:rPr>
              <a:t>Traditional Search &amp; Rescue Collapses Across 4 Critical Voids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960120"/>
            <a:ext cx="96012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E11D48"/>
                </a:solidFill>
                <a:latin typeface="JetBrains Mono"/>
              </a:rPr>
              <a:t>70% CANOPY CRASHES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15-30m GEO ERROR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0120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2-3 HOURS DELAY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07040" y="960120"/>
            <a:ext cx="96012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E11D48"/>
                </a:solidFill>
                <a:latin typeface="JetBrains Mono"/>
              </a:rPr>
              <a:t>₹40L+ AIRFRAMES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ps_canopy_shad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609344"/>
            <a:ext cx="2395728" cy="868680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04672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Wayanad Canopy Crash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A // GNC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57400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57400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GPS MULTI-PATH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1248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Canopy GPS Drift &amp; Crashes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22960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9536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9536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Dense foliage blocks satellite GNSS signals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22960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9536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9536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Commercial drones lose position lock, drifting into tree canopies and causing rotor loss.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22960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70% Loss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Canopy Sorties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039112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39112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0 Hold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39112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Non-GPS Stability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PX4 &amp; 3D ORCA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65960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NIKHIL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1520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3456432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rf_mountain_shad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584" y="1609344"/>
            <a:ext cx="2395728" cy="868680"/>
          </a:xfrm>
          <a:prstGeom prst="rect">
            <a:avLst/>
          </a:prstGeom>
        </p:spPr>
      </p:pic>
      <p:sp>
        <p:nvSpPr>
          <p:cNvPr id="81" name="Rectangle 80"/>
          <p:cNvSpPr/>
          <p:nvPr/>
        </p:nvSpPr>
        <p:spPr>
          <a:xfrm>
            <a:off x="3529584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566160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Chamoli Gorge RF Cut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66160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B // COMMS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782312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782312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DIGITAL CLIFF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66160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Mountain Ravine RF Blackout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47872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84448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84448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Ridgelines sever direct line-of-sight RF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547872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584448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584448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Conventional H.264 digital video completely cuts out below 5dB SNR, causing total blindness.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547872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547872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&lt;5dB SNR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47872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Video Blackout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764024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764024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0 Relay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764024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Single-Drone Link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47872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DEEP JSCC MESH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690872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NIKHIL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456432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6181344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disaster_rescue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1609344"/>
            <a:ext cx="2395728" cy="86868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6254496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291072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Sikkim Slope Geo Error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91072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C // VISION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507224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507224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35% FALSE ALARM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Single-Sensor &amp; Slope Drift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72784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09360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09360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2D cameras assume flat ground; blind to smoke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272784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09360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309360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Smoke/darkness blind single RGB sensors; steep slopes produce 15–30m GPS coordinate errors.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272784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272784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15–30m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272784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Slope Geo Drift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488936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488936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35%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88936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False Alarm Rate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272784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TRI-MODAL &amp; 3D DEM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15784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VEDANTH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81344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8906256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single_link_los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1609344"/>
            <a:ext cx="2395728" cy="868680"/>
          </a:xfrm>
          <a:prstGeom prst="rect">
            <a:avLst/>
          </a:prstGeom>
        </p:spPr>
      </p:pic>
      <p:sp>
        <p:nvSpPr>
          <p:cNvPr id="127" name="Rectangle 126"/>
          <p:cNvSpPr/>
          <p:nvPr/>
        </p:nvSpPr>
        <p:spPr>
          <a:xfrm>
            <a:off x="8979408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15984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Central Link Abort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15984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D // C2 GCS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0232136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32136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15-25 CREW LOAD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015984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Central Pilot Bottleneck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997696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034272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034272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1-pilot-per-drone manual radio control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997696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034272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034272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Requires 15–25 personnel and 45–90 min setup; sortie aborts if the single pilot link drops.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997696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997696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2–3 Hrs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97696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Search Time / mi²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213848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213848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₹12.5L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13848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Cost / Deployment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997696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WEBGPU ATAK GCS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140696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SIVA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906256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31520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22960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FIELD EVIDENCE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Wayanad Landslide Audit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3456432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547872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AUDIT FINDING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553712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E11D48"/>
                </a:solidFill>
                <a:latin typeface="JetBrains Mono"/>
              </a:rPr>
              <a:t>70% RF/GPS Disconnect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181344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272784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COST PENALTY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278624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₹40L Military Airframes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8906256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997696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SURVIVOR RISK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003536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E11D48"/>
                </a:solidFill>
                <a:latin typeface="JetBrains Mono"/>
              </a:rPr>
              <a:t>412% Disaster Surge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31520" y="61722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31520" y="62636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0" y="626364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438912"/>
            <a:ext cx="73152" cy="27432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JetBrains Mono"/>
              </a:rPr>
              <a:t>THE SOLUTION — 4 CORE SUBSYSTEM MOATS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438912"/>
            <a:ext cx="24688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53035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47548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JetBrains Mono"/>
              </a:rPr>
              <a:t>SWARM ARCHITECTURE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868680"/>
            <a:ext cx="6858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09090B"/>
                </a:solidFill>
                <a:latin typeface="Space Grotesk"/>
              </a:rPr>
              <a:t>AI Swarm Drones Find Survivors 3-4x Faster Than Traditional SAR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10-18 MIN/MI²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0" y="960120"/>
            <a:ext cx="96012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047857"/>
                </a:solidFill>
                <a:latin typeface="JetBrains Mono"/>
              </a:rPr>
              <a:t>78-85% DETECTION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0120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12% FALSE ALARMS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07040" y="960120"/>
            <a:ext cx="96012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047857"/>
                </a:solidFill>
                <a:latin typeface="JetBrains Mono"/>
              </a:rPr>
              <a:t>₹95,000 SORTIE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A // GNC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57400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50Hz OFFBOARD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SUTRA-FSD GNC &amp; 3D ORCA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1248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6112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6112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Canopy GPS Multi-Path Drift &amp; Crashes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41248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Decentralized 3D velocity obstacle collision avoidance + PX4 MicroXRCE 50Hz offboard setpoint streaming.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124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124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0.05s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124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Latency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048256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48256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0 Tower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48256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Reliance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DECENTRALIZED VIO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659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50Hz RATE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520" y="5477255"/>
            <a:ext cx="2542032" cy="3657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456432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66160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B // COMMS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82312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82312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-5dB RESILIENT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66160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Deep JSCC Neural Video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66160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21024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21024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Mountain Ravine RF Ridge Blackout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66160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21024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21024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Differentiable joint source-channel coding yielding zero digital cliff and graceful video degradation down to -5dB.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6616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6616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-5dB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6616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SNR Thresh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7316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7316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0 Cliff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7316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Degradation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661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SEMANTIC COMMS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908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EDGE TPU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456432" y="5477255"/>
            <a:ext cx="2542032" cy="36576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181344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91072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C // VISION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507224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07224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3.59cm RESIDUAL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91072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Tri-Modal AI &amp; 3D Geolocation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291072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45936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45936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Smoke Blindspots &amp; 15-30m Slope Drift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291072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45936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45936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Cross-attention fusion (RGB + FLIR Thermal + Radar) + 3D DEM elevation raycasting on Jetson Orin, eliminating slope error down to 3.59cm precision.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29107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9107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&lt;15ms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Inference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749808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9808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3.59cm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9808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Raycast Error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910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SLOPE CORRECTED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157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JETSON ORIN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181344" y="5477255"/>
            <a:ext cx="2542032" cy="3657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906256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015984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D // C2 GCS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232136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232136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1-2 OPERATORS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15984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Pegasus 3D WebGPU GCS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015984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070848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70848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15-25 Ground Crew Cognitive Overload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015984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070848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70848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Offline tactical 3D digital twin + ATAK plugin, empowering 1-2 operators to orchestrate full drone swarms.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015984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15984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1-2 Ops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15984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Crew Size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022299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2299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100%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2299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Offline ATAK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159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ATAK INTEGRATION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140696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WEBGPU 3D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906256" y="5477255"/>
            <a:ext cx="2542032" cy="36576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731520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22960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TAM PROJECTION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828800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₹74,500 Cr Market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456432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547872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DEMAND DELTA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553712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+412% Surge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181344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272784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REGULATORY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278624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37 Nations Mandate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906256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997696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NDMA / SDRF GRANTS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003536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₹1,500 Cr Allocation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31520" y="61722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31520" y="62636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858000" y="626364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