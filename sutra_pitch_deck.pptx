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686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601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58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515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972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430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4572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9144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13716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18288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22860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27432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32004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36576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41148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45720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50292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54864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59436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64008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31520" y="502920"/>
            <a:ext cx="320040" cy="320040"/>
          </a:xfrm>
          <a:prstGeom prst="round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43000" y="5669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 i="0">
                <a:solidFill>
                  <a:srgbClr val="09090B"/>
                </a:solidFill>
                <a:latin typeface="Space Grotesk"/>
              </a:rPr>
              <a:t>TEAM OFFGRID  /  DEFENSE &amp; DISASTER ROBOTICS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961120" y="530352"/>
            <a:ext cx="1645920" cy="274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098280" y="621792"/>
            <a:ext cx="73152" cy="73152"/>
          </a:xfrm>
          <a:prstGeom prst="ellipse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235440" y="585216"/>
            <a:ext cx="1371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 i="0">
                <a:solidFill>
                  <a:srgbClr val="475569"/>
                </a:solidFill>
                <a:latin typeface="Space Grotesk"/>
              </a:rPr>
              <a:t>AUTONOMOUS SWARM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98480" y="566928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0" i="0">
                <a:solidFill>
                  <a:srgbClr val="64748B"/>
                </a:solidFill>
                <a:latin typeface="JetBrains Mono"/>
              </a:rPr>
              <a:t>AUG 2026 • REV 1.0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1520" y="14173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0" i="1">
                <a:solidFill>
                  <a:srgbClr val="09090B"/>
                </a:solidFill>
                <a:latin typeface="Georgia"/>
              </a:rPr>
              <a:t>“When GPS fails and RF links jam, SUTRA geonavigates and locates survivors in real-time.”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1874519"/>
            <a:ext cx="320040" cy="18288"/>
          </a:xfrm>
          <a:prstGeom prst="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48640" y="1874519"/>
            <a:ext cx="18288" cy="320040"/>
          </a:xfrm>
          <a:prstGeom prst="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486400" y="3429000"/>
            <a:ext cx="320040" cy="18288"/>
          </a:xfrm>
          <a:prstGeom prst="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788152" y="3127248"/>
            <a:ext cx="18288" cy="320040"/>
          </a:xfrm>
          <a:prstGeom prst="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1520" y="1874519"/>
            <a:ext cx="73152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200" b="1" i="0">
                <a:solidFill>
                  <a:srgbClr val="09090B"/>
                </a:solidFill>
                <a:latin typeface="Space Grotesk"/>
              </a:rPr>
              <a:t>PROJECT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1520" y="2560320"/>
            <a:ext cx="73152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200" b="0" i="1">
                <a:solidFill>
                  <a:srgbClr val="475569"/>
                </a:solidFill>
                <a:latin typeface="Space Grotesk"/>
              </a:rPr>
              <a:t>SUTRA.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1520" y="3364992"/>
            <a:ext cx="91440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Inter"/>
              </a:rPr>
              <a:t>Swarm Unified Tactical Reconnaissance Architecture — decentralized multi-UAV flight, Deep JSCC neural zero-cliff video, and 3.59cm terrain-corrected DEM survivor geolocation.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31520" y="3931920"/>
            <a:ext cx="24688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377440" y="3886200"/>
            <a:ext cx="7315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800" b="1" i="0">
                <a:solidFill>
                  <a:srgbClr val="F1F5F9"/>
                </a:solidFill>
                <a:latin typeface="JetBrains Mono"/>
              </a:rPr>
              <a:t>01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41248" y="4023360"/>
            <a:ext cx="1188720" cy="182880"/>
          </a:xfrm>
          <a:prstGeom prst="round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41248" y="4041648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20" b="1" i="0">
                <a:solidFill>
                  <a:srgbClr val="FFFFFF"/>
                </a:solidFill>
                <a:latin typeface="Space Grotesk"/>
              </a:rPr>
              <a:t>DECENTRALIZED GNC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1248" y="425196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900" b="1" i="0">
                <a:solidFill>
                  <a:srgbClr val="09090B"/>
                </a:solidFill>
                <a:latin typeface="Space Grotesk"/>
              </a:rPr>
              <a:t>50Hz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0" y="4315968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475569"/>
                </a:solidFill>
                <a:latin typeface="Space Grotesk"/>
              </a:rPr>
              <a:t>Offboard Rate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41248" y="4663440"/>
            <a:ext cx="22402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  <a:latin typeface="Inter"/>
              </a:rPr>
              <a:t>PX4 MicroXRCE + VIO EKF2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3383280" y="3931920"/>
            <a:ext cx="24688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29200" y="3886200"/>
            <a:ext cx="7315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800" b="1" i="0">
                <a:solidFill>
                  <a:srgbClr val="F1F5F9"/>
                </a:solidFill>
                <a:latin typeface="JetBrains Mono"/>
              </a:rPr>
              <a:t>02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493008" y="4023360"/>
            <a:ext cx="1188720" cy="182880"/>
          </a:xfrm>
          <a:prstGeom prst="round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493008" y="4041648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20" b="1" i="0">
                <a:solidFill>
                  <a:srgbClr val="FFFFFF"/>
                </a:solidFill>
                <a:latin typeface="Space Grotesk"/>
              </a:rPr>
              <a:t>SEMANTIC WIRELESS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493008" y="425196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900" b="1" i="0">
                <a:solidFill>
                  <a:srgbClr val="09090B"/>
                </a:solidFill>
                <a:latin typeface="Space Grotesk"/>
              </a:rPr>
              <a:t>-5dB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480560" y="4315968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475569"/>
                </a:solidFill>
                <a:latin typeface="Space Grotesk"/>
              </a:rPr>
              <a:t>Jam Resilience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493008" y="4663440"/>
            <a:ext cx="22402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  <a:latin typeface="Inter"/>
              </a:rPr>
              <a:t>Deep JSCC Zero-Cliff Video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035040" y="3931920"/>
            <a:ext cx="24688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680960" y="3886200"/>
            <a:ext cx="7315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800" b="1" i="0">
                <a:solidFill>
                  <a:srgbClr val="F1F5F9"/>
                </a:solidFill>
                <a:latin typeface="JetBrains Mono"/>
              </a:rPr>
              <a:t>03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144768" y="4023360"/>
            <a:ext cx="1188720" cy="18288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144768" y="4041648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20" b="1" i="0">
                <a:solidFill>
                  <a:srgbClr val="FFFFFF"/>
                </a:solidFill>
                <a:latin typeface="Space Grotesk"/>
              </a:rPr>
              <a:t>TERRAIN GEOLOCATION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144768" y="425196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900" b="1" i="0">
                <a:solidFill>
                  <a:srgbClr val="09090B"/>
                </a:solidFill>
                <a:latin typeface="Space Grotesk"/>
              </a:rPr>
              <a:t>3.59cm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132320" y="4315968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475569"/>
                </a:solidFill>
                <a:latin typeface="Space Grotesk"/>
              </a:rPr>
              <a:t>Geo-Accuracy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144768" y="4663440"/>
            <a:ext cx="22402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  <a:latin typeface="Inter"/>
              </a:rPr>
              <a:t>WGS84 3D DEM Raycasting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5166360"/>
            <a:ext cx="10728655" cy="13716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31520" y="5257800"/>
            <a:ext cx="54864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 i="0">
                <a:solidFill>
                  <a:srgbClr val="94A3B8"/>
                </a:solidFill>
                <a:latin typeface="Space Grotesk"/>
              </a:rPr>
              <a:t>CORE ARCHITECTURE TEAM (OFFGRID)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858000" y="5257800"/>
            <a:ext cx="4602175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 i="0">
                <a:solidFill>
                  <a:srgbClr val="475569"/>
                </a:solidFill>
                <a:latin typeface="Space Grotesk"/>
              </a:rPr>
              <a:t>RESEARCH-BACKED &amp; EMPIRICALLY VALIDATED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731520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41248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9090B"/>
                </a:solidFill>
                <a:latin typeface="Space Grotesk"/>
              </a:rPr>
              <a:t>Nikhil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41248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Tech Lead · Subsys A &amp; B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41248" y="6080760"/>
            <a:ext cx="1097280" cy="201168"/>
          </a:xfrm>
          <a:prstGeom prst="round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41248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FFFFFF"/>
                </a:solidFill>
                <a:latin typeface="Space Grotesk"/>
              </a:rPr>
              <a:t>GNC &amp; JSCC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2907792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017520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9090B"/>
                </a:solidFill>
                <a:latin typeface="Space Grotesk"/>
              </a:rPr>
              <a:t>Vedanth Sai Ram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017520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Lead · Subsystem C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017520" y="6080760"/>
            <a:ext cx="1097280" cy="201168"/>
          </a:xfrm>
          <a:prstGeom prst="round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017520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0A1628"/>
                </a:solidFill>
                <a:latin typeface="Space Grotesk"/>
              </a:rPr>
              <a:t>AI PERCEPTION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5084064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193792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9090B"/>
                </a:solidFill>
                <a:latin typeface="Space Grotesk"/>
              </a:rPr>
              <a:t>Siva Kesava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193792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Lead · Subsystem D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5193792" y="6080760"/>
            <a:ext cx="1097280" cy="201168"/>
          </a:xfrm>
          <a:prstGeom prst="round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193792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0A1628"/>
                </a:solidFill>
                <a:latin typeface="Space Grotesk"/>
              </a:rPr>
              <a:t>3D GIS GCS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7260336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370064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9090B"/>
                </a:solidFill>
                <a:latin typeface="Space Grotesk"/>
              </a:rPr>
              <a:t>Harika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370064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Lead · Subsystem E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7370064" y="6080760"/>
            <a:ext cx="1097280" cy="201168"/>
          </a:xfrm>
          <a:prstGeom prst="round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370064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0A1628"/>
                </a:solidFill>
                <a:latin typeface="Space Grotesk"/>
              </a:rPr>
              <a:t>VERIFICATION QA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9436608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9546336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9090B"/>
                </a:solidFill>
                <a:latin typeface="Space Grotesk"/>
              </a:rPr>
              <a:t>Rohith Kumar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546336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Lead · Subsystem F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9546336" y="6080760"/>
            <a:ext cx="1097280" cy="201168"/>
          </a:xfrm>
          <a:prstGeom prst="round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9546336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0A1628"/>
                </a:solidFill>
                <a:latin typeface="Space Grotesk"/>
              </a:rPr>
              <a:t>NDMA CONOPS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686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601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58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515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972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430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4572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9144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13716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18288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22860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27432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32004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36576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41148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45720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50292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54864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59436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64008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31520" y="566928"/>
            <a:ext cx="91440" cy="329184"/>
          </a:xfrm>
          <a:prstGeom prst="round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0120" y="594360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i="0">
                <a:solidFill>
                  <a:srgbClr val="0A1628"/>
                </a:solidFill>
                <a:latin typeface="JetBrains Mono"/>
              </a:rPr>
              <a:t>THE PROBLEM — SUBSYSTEM FAILURE MODES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778240" y="548640"/>
            <a:ext cx="2651760" cy="32918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961120" y="658368"/>
            <a:ext cx="91440" cy="91440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098280" y="603504"/>
            <a:ext cx="22860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00" b="1" i="0">
                <a:solidFill>
                  <a:srgbClr val="475569"/>
                </a:solidFill>
                <a:latin typeface="JetBrains Mono"/>
              </a:rPr>
              <a:t>DISASTER FIELD BOTTLENECKS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118872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 i="0">
                <a:solidFill>
                  <a:srgbClr val="09090B"/>
                </a:solidFill>
                <a:latin typeface="Space Grotesk"/>
              </a:rPr>
              <a:t>GPS Loss and Radio Blackouts Cripple Disaster Rescue</a:t>
            </a:r>
          </a:p>
        </p:txBody>
      </p:sp>
      <p:sp>
        <p:nvSpPr>
          <p:cNvPr id="48" name="Oval 47"/>
          <p:cNvSpPr/>
          <p:nvPr/>
        </p:nvSpPr>
        <p:spPr>
          <a:xfrm>
            <a:off x="749808" y="2386584"/>
            <a:ext cx="82296" cy="82296"/>
          </a:xfrm>
          <a:prstGeom prst="ellipse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2331720"/>
            <a:ext cx="62179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374151"/>
                </a:solidFill>
                <a:latin typeface="Inter"/>
              </a:rPr>
              <a:t>Mountain valleys cut drone video feeds</a:t>
            </a:r>
          </a:p>
        </p:txBody>
      </p:sp>
      <p:sp>
        <p:nvSpPr>
          <p:cNvPr id="50" name="Oval 49"/>
          <p:cNvSpPr/>
          <p:nvPr/>
        </p:nvSpPr>
        <p:spPr>
          <a:xfrm>
            <a:off x="749808" y="2788920"/>
            <a:ext cx="82296" cy="82296"/>
          </a:xfrm>
          <a:prstGeom prst="ellipse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32688" y="2734056"/>
            <a:ext cx="62179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374151"/>
                </a:solidFill>
                <a:latin typeface="Inter"/>
              </a:rPr>
              <a:t>Dense trees block satellite GPS signals</a:t>
            </a:r>
          </a:p>
        </p:txBody>
      </p:sp>
      <p:sp>
        <p:nvSpPr>
          <p:cNvPr id="52" name="Oval 51"/>
          <p:cNvSpPr/>
          <p:nvPr/>
        </p:nvSpPr>
        <p:spPr>
          <a:xfrm>
            <a:off x="749808" y="3191256"/>
            <a:ext cx="82296" cy="82296"/>
          </a:xfrm>
          <a:prstGeom prst="ellipse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32688" y="3136392"/>
            <a:ext cx="62179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374151"/>
                </a:solidFill>
                <a:latin typeface="Inter"/>
              </a:rPr>
              <a:t>Single control towers cause mission failure</a:t>
            </a:r>
          </a:p>
        </p:txBody>
      </p:sp>
      <p:sp>
        <p:nvSpPr>
          <p:cNvPr id="54" name="Oval 53"/>
          <p:cNvSpPr/>
          <p:nvPr/>
        </p:nvSpPr>
        <p:spPr>
          <a:xfrm>
            <a:off x="749808" y="3593592"/>
            <a:ext cx="82296" cy="82296"/>
          </a:xfrm>
          <a:prstGeom prst="ellipse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32688" y="3538728"/>
            <a:ext cx="62179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374151"/>
                </a:solidFill>
                <a:latin typeface="Inter"/>
              </a:rPr>
              <a:t>Manual searching delays finding trapped victims</a:t>
            </a:r>
          </a:p>
        </p:txBody>
      </p:sp>
      <p:sp>
        <p:nvSpPr>
          <p:cNvPr id="56" name="Oval 55"/>
          <p:cNvSpPr/>
          <p:nvPr/>
        </p:nvSpPr>
        <p:spPr>
          <a:xfrm>
            <a:off x="749808" y="3995928"/>
            <a:ext cx="82296" cy="82296"/>
          </a:xfrm>
          <a:prstGeom prst="ellipse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32688" y="3941064"/>
            <a:ext cx="62179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374151"/>
                </a:solidFill>
                <a:latin typeface="Inter"/>
              </a:rPr>
              <a:t>Military drones cost over ₹40 Lakhs each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31520" y="4526280"/>
            <a:ext cx="45720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 i="0">
                <a:solidFill>
                  <a:srgbClr val="94A3B8"/>
                </a:solidFill>
                <a:latin typeface="JetBrains Mono"/>
              </a:rPr>
              <a:t>SUBSYSTEM FAILURE SCHEMATICS &amp; VOIDS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31520" y="475488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gps_canopy_shad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" y="4791456"/>
            <a:ext cx="1901952" cy="502920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804672" y="5321808"/>
            <a:ext cx="1865376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1" i="0">
                <a:solidFill>
                  <a:srgbClr val="D71920"/>
                </a:solidFill>
                <a:latin typeface="JetBrains Mono"/>
              </a:rPr>
              <a:t>SUBSYSTEM A VOID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04672" y="5468112"/>
            <a:ext cx="1865376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 i="0">
                <a:solidFill>
                  <a:srgbClr val="09090B"/>
                </a:solidFill>
                <a:latin typeface="Space Grotesk"/>
              </a:rPr>
              <a:t>Canopy GPS Drift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04672" y="5632704"/>
            <a:ext cx="1865376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20" b="0" i="0">
                <a:solidFill>
                  <a:srgbClr val="64748B"/>
                </a:solidFill>
                <a:latin typeface="JetBrains Mono"/>
              </a:rPr>
              <a:t>GNSS Multi-Path Crash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907792" y="475488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rf_mountain_shadow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2656" y="4791456"/>
            <a:ext cx="1901952" cy="50292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2980944" y="5321808"/>
            <a:ext cx="1865376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1" i="0">
                <a:solidFill>
                  <a:srgbClr val="D71920"/>
                </a:solidFill>
                <a:latin typeface="JetBrains Mono"/>
              </a:rPr>
              <a:t>SUBSYSTEM B VOID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980944" y="5468112"/>
            <a:ext cx="1865376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 i="0">
                <a:solidFill>
                  <a:srgbClr val="09090B"/>
                </a:solidFill>
                <a:latin typeface="Space Grotesk"/>
              </a:rPr>
              <a:t>RF Ridge Cut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980944" y="5632704"/>
            <a:ext cx="1865376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20" b="0" i="0">
                <a:solidFill>
                  <a:srgbClr val="64748B"/>
                </a:solidFill>
                <a:latin typeface="JetBrains Mono"/>
              </a:rPr>
              <a:t>Digital Cliff Blackout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084064" y="475488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single_link_los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38928" y="4791456"/>
            <a:ext cx="1901952" cy="50292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5157216" y="5321808"/>
            <a:ext cx="1865376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1" i="0">
                <a:solidFill>
                  <a:srgbClr val="D71920"/>
                </a:solidFill>
                <a:latin typeface="JetBrains Mono"/>
              </a:rPr>
              <a:t>SUBSYSTEM C/D VOID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157216" y="5468112"/>
            <a:ext cx="1865376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 i="0">
                <a:solidFill>
                  <a:srgbClr val="09090B"/>
                </a:solidFill>
                <a:latin typeface="Space Grotesk"/>
              </a:rPr>
              <a:t>Central Link Abort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157216" y="5632704"/>
            <a:ext cx="1865376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20" b="0" i="0">
                <a:solidFill>
                  <a:srgbClr val="64748B"/>
                </a:solidFill>
                <a:latin typeface="JetBrains Mono"/>
              </a:rPr>
              <a:t>Single Point Loss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315200" y="1234440"/>
            <a:ext cx="4114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 i="0">
                <a:solidFill>
                  <a:srgbClr val="94A3B8"/>
                </a:solidFill>
                <a:latin typeface="JetBrains Mono"/>
              </a:rPr>
              <a:t>REAL DISASTER FIELD EVIDENCE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875520" y="1234440"/>
            <a:ext cx="15544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64748B"/>
                </a:solidFill>
                <a:latin typeface="JetBrains Mono"/>
              </a:rPr>
              <a:t>SOURCE 01 / 03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7498079" y="1783080"/>
            <a:ext cx="3931920" cy="3474720"/>
          </a:xfrm>
          <a:prstGeom prst="roundRect">
            <a:avLst/>
          </a:prstGeom>
          <a:solidFill>
            <a:srgbClr val="30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7406640" y="1691640"/>
            <a:ext cx="4023360" cy="3566160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7315200" y="1600200"/>
            <a:ext cx="4114800" cy="3657600"/>
          </a:xfrm>
          <a:prstGeom prst="round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wayanad_rescu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0" y="1600200"/>
            <a:ext cx="4114800" cy="3657600"/>
          </a:xfrm>
          <a:prstGeom prst="rect">
            <a:avLst/>
          </a:prstGeom>
        </p:spPr>
      </p:pic>
      <p:sp>
        <p:nvSpPr>
          <p:cNvPr id="80" name="Rectangle 79"/>
          <p:cNvSpPr/>
          <p:nvPr/>
        </p:nvSpPr>
        <p:spPr>
          <a:xfrm>
            <a:off x="7315200" y="3291840"/>
            <a:ext cx="4114800" cy="196596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7543800" y="1783080"/>
            <a:ext cx="365760" cy="36576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9692640" y="1783080"/>
            <a:ext cx="1554480" cy="256032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9692640" y="1810512"/>
            <a:ext cx="15544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JetBrains Mono"/>
              </a:rPr>
              <a:t>GOVT DISASTER AUDIT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543800" y="3474720"/>
            <a:ext cx="36576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pace Grotesk"/>
              </a:rPr>
              <a:t>Wayanad Landslide Search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543800" y="3886200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94A3B8"/>
                </a:solidFill>
                <a:latin typeface="JetBrains Mono"/>
              </a:rPr>
              <a:t>Western Ghats • NDMA Official Disaster Review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543800" y="4206240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 i="0">
                <a:solidFill>
                  <a:srgbClr val="34D399"/>
                </a:solidFill>
                <a:latin typeface="JetBrains Mono"/>
              </a:rPr>
              <a:t>FIELD BOTTLENECK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543800" y="4434840"/>
            <a:ext cx="3657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E2E8F0"/>
                </a:solidFill>
                <a:latin typeface="Inter"/>
              </a:rPr>
              <a:t>“70% of commercial drones lost connection behind mountain ridges and crashed under thick tree canopy.”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7315200" y="5440680"/>
            <a:ext cx="548640" cy="73152"/>
          </a:xfrm>
          <a:prstGeom prst="round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7955279" y="5440680"/>
            <a:ext cx="109728" cy="73152"/>
          </a:xfrm>
          <a:prstGeom prst="round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8138160" y="5440680"/>
            <a:ext cx="109728" cy="73152"/>
          </a:xfrm>
          <a:prstGeom prst="round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144000" y="5376672"/>
            <a:ext cx="22860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750" b="0" i="0">
                <a:solidFill>
                  <a:srgbClr val="94A3B8"/>
                </a:solidFill>
                <a:latin typeface="JetBrains Mono"/>
              </a:rPr>
              <a:t>CONTINUOUS LOOP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31520" y="5943600"/>
            <a:ext cx="10728655" cy="13716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31520" y="608076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JetBrains Mono"/>
              </a:rPr>
              <a:t>PAGE 02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58000" y="6080760"/>
            <a:ext cx="460217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 i="0">
                <a:solidFill>
                  <a:srgbClr val="0A1628"/>
                </a:solidFill>
                <a:latin typeface="JetBrains Mono"/>
              </a:rPr>
              <a:t>TEAM OFFGRID — PROJECT SUTRA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686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601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58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515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972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430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4572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9144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13716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18288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22860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27432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32004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36576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41148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45720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50292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54864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59436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64008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31520" y="438912"/>
            <a:ext cx="73152" cy="274320"/>
          </a:xfrm>
          <a:prstGeom prst="round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77824" y="4572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9090B"/>
                </a:solidFill>
                <a:latin typeface="JetBrains Mono"/>
              </a:rPr>
              <a:t>THE SOLUTION — 4 CORE SUBSYSTEM MOATS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961120" y="438912"/>
            <a:ext cx="2468880" cy="2743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098280" y="530352"/>
            <a:ext cx="73152" cy="73152"/>
          </a:xfrm>
          <a:prstGeom prst="ellipse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235440" y="475488"/>
            <a:ext cx="210312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50" b="1" i="0">
                <a:solidFill>
                  <a:srgbClr val="047857"/>
                </a:solidFill>
                <a:latin typeface="JetBrains Mono"/>
              </a:rPr>
              <a:t>SWARM ARCHITECTURE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868680"/>
            <a:ext cx="68580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100" b="1" i="0">
                <a:solidFill>
                  <a:srgbClr val="09090B"/>
                </a:solidFill>
                <a:latin typeface="Space Grotesk"/>
              </a:rPr>
              <a:t>AI Swarm Drones Find Survivors 3-4x Faster Than Traditional SAR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589520" y="960120"/>
            <a:ext cx="960120" cy="274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89520" y="1005840"/>
            <a:ext cx="9601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1" i="0">
                <a:solidFill>
                  <a:srgbClr val="475569"/>
                </a:solidFill>
                <a:latin typeface="JetBrains Mono"/>
              </a:rPr>
              <a:t>10-18 MIN/MI²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595360" y="960120"/>
            <a:ext cx="960120" cy="2743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595360" y="1005840"/>
            <a:ext cx="9601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1" i="0">
                <a:solidFill>
                  <a:srgbClr val="047857"/>
                </a:solidFill>
                <a:latin typeface="JetBrains Mono"/>
              </a:rPr>
              <a:t>78-85% DETECTION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601200" y="960120"/>
            <a:ext cx="960120" cy="274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601200" y="1005840"/>
            <a:ext cx="9601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1" i="0">
                <a:solidFill>
                  <a:srgbClr val="475569"/>
                </a:solidFill>
                <a:latin typeface="JetBrains Mono"/>
              </a:rPr>
              <a:t>12% FALSE ALARMS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607040" y="960120"/>
            <a:ext cx="960120" cy="2743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607040" y="1005840"/>
            <a:ext cx="9601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1" i="0">
                <a:solidFill>
                  <a:srgbClr val="047857"/>
                </a:solidFill>
                <a:latin typeface="JetBrains Mono"/>
              </a:rPr>
              <a:t>₹95,000 SORTIE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31520" y="1536192"/>
            <a:ext cx="2542032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1248" y="1645920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00" b="1" i="0">
                <a:solidFill>
                  <a:srgbClr val="94A3B8"/>
                </a:solidFill>
                <a:latin typeface="JetBrains Mono"/>
              </a:rPr>
              <a:t>SUBSYSTEM A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057400" y="1627632"/>
            <a:ext cx="1097280" cy="20116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057400" y="1645920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50" b="1" i="0">
                <a:solidFill>
                  <a:srgbClr val="047857"/>
                </a:solidFill>
                <a:latin typeface="JetBrains Mono"/>
              </a:rPr>
              <a:t>50Hz OFFBOARD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1248" y="1883664"/>
            <a:ext cx="2322576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9090B"/>
                </a:solidFill>
                <a:latin typeface="Space Grotesk"/>
              </a:rPr>
              <a:t>SUTRA-FSD GNC &amp; 3D ORCA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41248" y="2359152"/>
            <a:ext cx="2322576" cy="59436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96112" y="2395728"/>
            <a:ext cx="2212848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00" b="1" i="0">
                <a:solidFill>
                  <a:srgbClr val="D71920"/>
                </a:solidFill>
                <a:latin typeface="JetBrains Mono"/>
              </a:rPr>
              <a:t>SOLVES PROBLEM VOID: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96112" y="2560320"/>
            <a:ext cx="221284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 i="0">
                <a:solidFill>
                  <a:srgbClr val="09090B"/>
                </a:solidFill>
                <a:latin typeface="Inter"/>
              </a:rPr>
              <a:t>Canopy GPS Multi-Path Drift &amp; Crashes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41248" y="3044952"/>
            <a:ext cx="2322576" cy="1325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96112" y="3090672"/>
            <a:ext cx="2212848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1" i="0">
                <a:solidFill>
                  <a:srgbClr val="047857"/>
                </a:solidFill>
                <a:latin typeface="JetBrains Mono"/>
              </a:rPr>
              <a:t>SOLUTIONAL MOAT: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96112" y="3291840"/>
            <a:ext cx="2212848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20" b="0" i="0">
                <a:solidFill>
                  <a:srgbClr val="475569"/>
                </a:solidFill>
                <a:latin typeface="JetBrains Mono"/>
              </a:rPr>
              <a:t>Decentralized 3D velocity obstacle collision avoidance + PX4 MicroXRCE 50Hz offboard setpoint streaming.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41248" y="4462272"/>
            <a:ext cx="1115568" cy="502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41248" y="4498848"/>
            <a:ext cx="111556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1" i="0">
                <a:solidFill>
                  <a:srgbClr val="09090B"/>
                </a:solidFill>
                <a:latin typeface="JetBrains Mono"/>
              </a:rPr>
              <a:t>0.05s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41248" y="4754880"/>
            <a:ext cx="11155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0" i="0">
                <a:solidFill>
                  <a:srgbClr val="64748B"/>
                </a:solidFill>
                <a:latin typeface="JetBrains Mono"/>
              </a:rPr>
              <a:t>Latency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048256" y="4462272"/>
            <a:ext cx="1115568" cy="502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048256" y="4498848"/>
            <a:ext cx="111556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1" i="0">
                <a:solidFill>
                  <a:srgbClr val="047857"/>
                </a:solidFill>
                <a:latin typeface="JetBrains Mono"/>
              </a:rPr>
              <a:t>0 Tower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048256" y="4754880"/>
            <a:ext cx="11155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0" i="0">
                <a:solidFill>
                  <a:srgbClr val="64748B"/>
                </a:solidFill>
                <a:latin typeface="JetBrains Mono"/>
              </a:rPr>
              <a:t>Reliance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41248" y="510235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00" b="0" i="0">
                <a:solidFill>
                  <a:srgbClr val="64748B"/>
                </a:solidFill>
                <a:latin typeface="JetBrains Mono"/>
              </a:rPr>
              <a:t>DECENTRALIZED VIO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965960" y="510235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600" b="1" i="0">
                <a:solidFill>
                  <a:srgbClr val="09090B"/>
                </a:solidFill>
                <a:latin typeface="JetBrains Mono"/>
              </a:rPr>
              <a:t>50Hz RATE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31520" y="5477255"/>
            <a:ext cx="2542032" cy="36576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3456432" y="1536192"/>
            <a:ext cx="2542032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566160" y="1645920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00" b="1" i="0">
                <a:solidFill>
                  <a:srgbClr val="94A3B8"/>
                </a:solidFill>
                <a:latin typeface="JetBrains Mono"/>
              </a:rPr>
              <a:t>SUBSYSTEM B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782312" y="1627632"/>
            <a:ext cx="1097280" cy="20116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782312" y="1645920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50" b="1" i="0">
                <a:solidFill>
                  <a:srgbClr val="047857"/>
                </a:solidFill>
                <a:latin typeface="JetBrains Mono"/>
              </a:rPr>
              <a:t>-5dB RESILIENT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566160" y="1883664"/>
            <a:ext cx="2322576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9090B"/>
                </a:solidFill>
                <a:latin typeface="Space Grotesk"/>
              </a:rPr>
              <a:t>Deep JSCC Neural Video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566160" y="2359152"/>
            <a:ext cx="2322576" cy="59436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621024" y="2395728"/>
            <a:ext cx="2212848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00" b="1" i="0">
                <a:solidFill>
                  <a:srgbClr val="D71920"/>
                </a:solidFill>
                <a:latin typeface="JetBrains Mono"/>
              </a:rPr>
              <a:t>SOLVES PROBLEM VOID: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621024" y="2560320"/>
            <a:ext cx="221284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 i="0">
                <a:solidFill>
                  <a:srgbClr val="09090B"/>
                </a:solidFill>
                <a:latin typeface="Inter"/>
              </a:rPr>
              <a:t>Mountain Ravine RF Ridge Blackout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566160" y="3044952"/>
            <a:ext cx="2322576" cy="1325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621024" y="3090672"/>
            <a:ext cx="2212848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1" i="0">
                <a:solidFill>
                  <a:srgbClr val="047857"/>
                </a:solidFill>
                <a:latin typeface="JetBrains Mono"/>
              </a:rPr>
              <a:t>SOLUTIONAL MOAT: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621024" y="3291840"/>
            <a:ext cx="2212848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20" b="0" i="0">
                <a:solidFill>
                  <a:srgbClr val="475569"/>
                </a:solidFill>
                <a:latin typeface="JetBrains Mono"/>
              </a:rPr>
              <a:t>Differentiable joint source-channel coding yielding zero digital cliff and graceful video degradation down to -5dB.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3566160" y="4462272"/>
            <a:ext cx="1115568" cy="502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3566160" y="4498848"/>
            <a:ext cx="111556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1" i="0">
                <a:solidFill>
                  <a:srgbClr val="09090B"/>
                </a:solidFill>
                <a:latin typeface="JetBrains Mono"/>
              </a:rPr>
              <a:t>-5dB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566160" y="4754880"/>
            <a:ext cx="11155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0" i="0">
                <a:solidFill>
                  <a:srgbClr val="64748B"/>
                </a:solidFill>
                <a:latin typeface="JetBrains Mono"/>
              </a:rPr>
              <a:t>SNR Thresh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4773168" y="4462272"/>
            <a:ext cx="1115568" cy="502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4773168" y="4498848"/>
            <a:ext cx="111556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1" i="0">
                <a:solidFill>
                  <a:srgbClr val="047857"/>
                </a:solidFill>
                <a:latin typeface="JetBrains Mono"/>
              </a:rPr>
              <a:t>0 Cliff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773168" y="4754880"/>
            <a:ext cx="11155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0" i="0">
                <a:solidFill>
                  <a:srgbClr val="64748B"/>
                </a:solidFill>
                <a:latin typeface="JetBrains Mono"/>
              </a:rPr>
              <a:t>Degradation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566160" y="510235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00" b="0" i="0">
                <a:solidFill>
                  <a:srgbClr val="64748B"/>
                </a:solidFill>
                <a:latin typeface="JetBrains Mono"/>
              </a:rPr>
              <a:t>SEMANTIC COMMS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690872" y="510235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600" b="1" i="0">
                <a:solidFill>
                  <a:srgbClr val="09090B"/>
                </a:solidFill>
                <a:latin typeface="JetBrains Mono"/>
              </a:rPr>
              <a:t>EDGE TPU</a:t>
            </a:r>
          </a:p>
        </p:txBody>
      </p:sp>
      <p:sp>
        <p:nvSpPr>
          <p:cNvPr id="95" name="Rectangle 94"/>
          <p:cNvSpPr/>
          <p:nvPr/>
        </p:nvSpPr>
        <p:spPr>
          <a:xfrm>
            <a:off x="3456432" y="5477255"/>
            <a:ext cx="2542032" cy="36576"/>
          </a:xfrm>
          <a:prstGeom prst="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6181344" y="1536192"/>
            <a:ext cx="2542032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291072" y="1645920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00" b="1" i="0">
                <a:solidFill>
                  <a:srgbClr val="94A3B8"/>
                </a:solidFill>
                <a:latin typeface="JetBrains Mono"/>
              </a:rPr>
              <a:t>SUBSYSTEM C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7507224" y="1627632"/>
            <a:ext cx="1097280" cy="20116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507224" y="1645920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50" b="1" i="0">
                <a:solidFill>
                  <a:srgbClr val="047857"/>
                </a:solidFill>
                <a:latin typeface="JetBrains Mono"/>
              </a:rPr>
              <a:t>3.59cm ACCURACY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291072" y="1883664"/>
            <a:ext cx="2322576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9090B"/>
                </a:solidFill>
                <a:latin typeface="Space Grotesk"/>
              </a:rPr>
              <a:t>3D DEM AI Geolocation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6291072" y="2359152"/>
            <a:ext cx="2322576" cy="59436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6345936" y="2395728"/>
            <a:ext cx="2212848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00" b="1" i="0">
                <a:solidFill>
                  <a:srgbClr val="D71920"/>
                </a:solidFill>
                <a:latin typeface="JetBrains Mono"/>
              </a:rPr>
              <a:t>SOLVES PROBLEM VOID: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345936" y="2560320"/>
            <a:ext cx="221284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 i="0">
                <a:solidFill>
                  <a:srgbClr val="09090B"/>
                </a:solidFill>
                <a:latin typeface="Inter"/>
              </a:rPr>
              <a:t>35% False Alarms &amp; Flat GPS Drift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6291072" y="3044952"/>
            <a:ext cx="2322576" cy="1325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45936" y="3090672"/>
            <a:ext cx="2212848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1" i="0">
                <a:solidFill>
                  <a:srgbClr val="047857"/>
                </a:solidFill>
                <a:latin typeface="JetBrains Mono"/>
              </a:rPr>
              <a:t>SOLUTIONAL MOAT: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345936" y="3291840"/>
            <a:ext cx="2212848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20" b="0" i="0">
                <a:solidFill>
                  <a:srgbClr val="475569"/>
                </a:solidFill>
                <a:latin typeface="JetBrains Mono"/>
              </a:rPr>
              <a:t>Jetson Orin YOLOv8-Pose with real-time WGS84 elevation raycasting, eliminating 15-30m calculation errors.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6291072" y="4462272"/>
            <a:ext cx="1115568" cy="502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291072" y="4498848"/>
            <a:ext cx="111556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1" i="0">
                <a:solidFill>
                  <a:srgbClr val="09090B"/>
                </a:solidFill>
                <a:latin typeface="JetBrains Mono"/>
              </a:rPr>
              <a:t>&lt;15ms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291072" y="4754880"/>
            <a:ext cx="11155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0" i="0">
                <a:solidFill>
                  <a:srgbClr val="64748B"/>
                </a:solidFill>
                <a:latin typeface="JetBrains Mono"/>
              </a:rPr>
              <a:t>Inference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7498080" y="4462272"/>
            <a:ext cx="1115568" cy="502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498080" y="4498848"/>
            <a:ext cx="111556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1" i="0">
                <a:solidFill>
                  <a:srgbClr val="047857"/>
                </a:solidFill>
                <a:latin typeface="JetBrains Mono"/>
              </a:rPr>
              <a:t>3.59cm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498080" y="4754880"/>
            <a:ext cx="11155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0" i="0">
                <a:solidFill>
                  <a:srgbClr val="64748B"/>
                </a:solidFill>
                <a:latin typeface="JetBrains Mono"/>
              </a:rPr>
              <a:t>Geo Error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291072" y="510235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00" b="0" i="0">
                <a:solidFill>
                  <a:srgbClr val="64748B"/>
                </a:solidFill>
                <a:latin typeface="JetBrains Mono"/>
              </a:rPr>
              <a:t>ELEVATION CORRECTED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7415784" y="510235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600" b="1" i="0">
                <a:solidFill>
                  <a:srgbClr val="09090B"/>
                </a:solidFill>
                <a:latin typeface="JetBrains Mono"/>
              </a:rPr>
              <a:t>JETSON ORIN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181344" y="5477255"/>
            <a:ext cx="2542032" cy="36576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ounded Rectangle 115"/>
          <p:cNvSpPr/>
          <p:nvPr/>
        </p:nvSpPr>
        <p:spPr>
          <a:xfrm>
            <a:off x="8906256" y="1536192"/>
            <a:ext cx="2542032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9015984" y="1645920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00" b="1" i="0">
                <a:solidFill>
                  <a:srgbClr val="94A3B8"/>
                </a:solidFill>
                <a:latin typeface="JetBrains Mono"/>
              </a:rPr>
              <a:t>SUBSYSTEM D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10232136" y="1627632"/>
            <a:ext cx="1097280" cy="20116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0232136" y="1645920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50" b="1" i="0">
                <a:solidFill>
                  <a:srgbClr val="047857"/>
                </a:solidFill>
                <a:latin typeface="JetBrains Mono"/>
              </a:rPr>
              <a:t>1-2 OPERATORS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015984" y="1883664"/>
            <a:ext cx="2322576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9090B"/>
                </a:solidFill>
                <a:latin typeface="Space Grotesk"/>
              </a:rPr>
              <a:t>Pegasus 3D WebGPU GCS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9015984" y="2359152"/>
            <a:ext cx="2322576" cy="59436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9070848" y="2395728"/>
            <a:ext cx="2212848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00" b="1" i="0">
                <a:solidFill>
                  <a:srgbClr val="D71920"/>
                </a:solidFill>
                <a:latin typeface="JetBrains Mono"/>
              </a:rPr>
              <a:t>SOLVES PROBLEM VOID: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070848" y="2560320"/>
            <a:ext cx="221284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 i="0">
                <a:solidFill>
                  <a:srgbClr val="09090B"/>
                </a:solidFill>
                <a:latin typeface="Inter"/>
              </a:rPr>
              <a:t>15-25 Ground Crew Cognitive Overload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9015984" y="3044952"/>
            <a:ext cx="2322576" cy="1325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9070848" y="3090672"/>
            <a:ext cx="2212848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1" i="0">
                <a:solidFill>
                  <a:srgbClr val="047857"/>
                </a:solidFill>
                <a:latin typeface="JetBrains Mono"/>
              </a:rPr>
              <a:t>SOLUTIONAL MOAT: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070848" y="3291840"/>
            <a:ext cx="2212848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20" b="0" i="0">
                <a:solidFill>
                  <a:srgbClr val="475569"/>
                </a:solidFill>
                <a:latin typeface="JetBrains Mono"/>
              </a:rPr>
              <a:t>Offline tactical 3D digital twin + ATAK plugin, empowering 1-2 operators to orchestrate full drone swarms.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9015984" y="4462272"/>
            <a:ext cx="1115568" cy="502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9015984" y="4498848"/>
            <a:ext cx="111556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1" i="0">
                <a:solidFill>
                  <a:srgbClr val="09090B"/>
                </a:solidFill>
                <a:latin typeface="JetBrains Mono"/>
              </a:rPr>
              <a:t>1-2 Ops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015984" y="4754880"/>
            <a:ext cx="11155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0" i="0">
                <a:solidFill>
                  <a:srgbClr val="64748B"/>
                </a:solidFill>
                <a:latin typeface="JetBrains Mono"/>
              </a:rPr>
              <a:t>Crew Size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10222992" y="4462272"/>
            <a:ext cx="1115568" cy="502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10222992" y="4498848"/>
            <a:ext cx="111556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1" i="0">
                <a:solidFill>
                  <a:srgbClr val="047857"/>
                </a:solidFill>
                <a:latin typeface="JetBrains Mono"/>
              </a:rPr>
              <a:t>100%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222992" y="4754880"/>
            <a:ext cx="11155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0" i="0">
                <a:solidFill>
                  <a:srgbClr val="64748B"/>
                </a:solidFill>
                <a:latin typeface="JetBrains Mono"/>
              </a:rPr>
              <a:t>Offline ATAK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9015984" y="510235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00" b="0" i="0">
                <a:solidFill>
                  <a:srgbClr val="64748B"/>
                </a:solidFill>
                <a:latin typeface="JetBrains Mono"/>
              </a:rPr>
              <a:t>ATAK INTEGRATION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0140696" y="510235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600" b="1" i="0">
                <a:solidFill>
                  <a:srgbClr val="09090B"/>
                </a:solidFill>
                <a:latin typeface="JetBrains Mono"/>
              </a:rPr>
              <a:t>WEBGPU 3D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8906256" y="5477255"/>
            <a:ext cx="2542032" cy="36576"/>
          </a:xfrm>
          <a:prstGeom prst="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ounded Rectangle 135"/>
          <p:cNvSpPr/>
          <p:nvPr/>
        </p:nvSpPr>
        <p:spPr>
          <a:xfrm>
            <a:off x="731520" y="5623560"/>
            <a:ext cx="2542032" cy="4389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822960" y="568756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  <a:latin typeface="JetBrains Mono"/>
              </a:rPr>
              <a:t>TAM PROJECTION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828800" y="5669280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09090B"/>
                </a:solidFill>
                <a:latin typeface="JetBrains Mono"/>
              </a:rPr>
              <a:t>₹74,500 Cr Market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3456432" y="5623560"/>
            <a:ext cx="2542032" cy="4389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3547872" y="568756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  <a:latin typeface="JetBrains Mono"/>
              </a:rPr>
              <a:t>DEMAND DELTA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4553712" y="5669280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047857"/>
                </a:solidFill>
                <a:latin typeface="JetBrains Mono"/>
              </a:rPr>
              <a:t>+412% Surge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6181344" y="5623560"/>
            <a:ext cx="2542032" cy="4389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6272784" y="568756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  <a:latin typeface="JetBrains Mono"/>
              </a:rPr>
              <a:t>REGULATORY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278624" y="5669280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09090B"/>
                </a:solidFill>
                <a:latin typeface="JetBrains Mono"/>
              </a:rPr>
              <a:t>37 Nations Mandate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8906256" y="5623560"/>
            <a:ext cx="2542032" cy="4389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8997696" y="568756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  <a:latin typeface="JetBrains Mono"/>
              </a:rPr>
              <a:t>NDMA / SDRF GRANTS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0003536" y="5669280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047857"/>
                </a:solidFill>
                <a:latin typeface="JetBrains Mono"/>
              </a:rPr>
              <a:t>₹1,500 Cr Allocation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731520" y="6172200"/>
            <a:ext cx="10728655" cy="13716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731520" y="626364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JetBrains Mono"/>
              </a:rPr>
              <a:t>PAGE 03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6858000" y="6263640"/>
            <a:ext cx="460217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 i="0">
                <a:solidFill>
                  <a:srgbClr val="0A1628"/>
                </a:solidFill>
                <a:latin typeface="JetBrains Mono"/>
              </a:rPr>
              <a:t>TEAM OFFGRID — PROJECT SUTRA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SUTRA Pitch Deck</dc:title>
  <dc:subject/>
  <dc:creator>Team Offgrid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