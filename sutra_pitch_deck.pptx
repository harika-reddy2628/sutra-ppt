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6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86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86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86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43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43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43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3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43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43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00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00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00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200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200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0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00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00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00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7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57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7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57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57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57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57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57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57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7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148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114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114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114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114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14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114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14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14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114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5720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72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572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72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72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72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72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2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72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72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292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292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029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29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29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29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029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029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029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029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0292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4864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86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486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486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486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86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86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86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486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86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436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3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43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943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943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943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943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943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943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943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4008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400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00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00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00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400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400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400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400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400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400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8580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858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858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858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858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858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858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858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858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58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58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3152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3152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315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315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315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315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315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315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315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315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3152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7724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72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72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772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772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772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772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772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772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72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772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229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229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229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229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29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29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229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229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229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229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686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686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686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686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686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686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686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686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686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686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144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144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144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144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144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44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144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144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144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144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601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601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601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601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601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601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601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601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058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058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0058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058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0058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058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0058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058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515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515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515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0515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0515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0515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31520" y="594360"/>
            <a:ext cx="109728" cy="109728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6012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7A7576"/>
                </a:solidFill>
                <a:latin typeface="Syncopate"/>
              </a:rPr>
              <a:t>TEAM OFFGRID  /  DEFENSE &amp; DISASTER ROBOTICS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772400" y="5669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 b="1">
                <a:solidFill>
                  <a:srgbClr val="7A7576"/>
                </a:solidFill>
                <a:latin typeface="JetBrains Mono"/>
              </a:rPr>
              <a:t>AUG 2026  •  REV 1.0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31520" y="21945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7576"/>
                </a:solidFill>
                <a:latin typeface="Syncopate"/>
              </a:rPr>
              <a:t>[ AUTONOMOUS MULTI-UAV SWARM ARCHITECTURE ]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31520" y="2542032"/>
            <a:ext cx="73152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536192" y="2505456"/>
            <a:ext cx="73152" cy="73152"/>
          </a:xfrm>
          <a:prstGeom prst="ellipse">
            <a:avLst/>
          </a:prstGeom>
          <a:solidFill>
            <a:srgbClr val="1915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682496" y="2542032"/>
            <a:ext cx="365760" cy="22860"/>
          </a:xfrm>
          <a:prstGeom prst="rect">
            <a:avLst/>
          </a:prstGeom>
          <a:solidFill>
            <a:srgbClr val="E8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31520" y="278892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>
                <a:solidFill>
                  <a:srgbClr val="191516"/>
                </a:solidFill>
                <a:latin typeface="Syncopate"/>
              </a:rPr>
              <a:t>PROJECT SUTRA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7A7576"/>
                </a:solidFill>
                <a:latin typeface="Space Grotesk"/>
              </a:rPr>
              <a:t>Swarm Unified Tactical Reconnaissance Architecture for GPS-Denied and Jammed Mountain Environments.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31520" y="5349240"/>
            <a:ext cx="10728655" cy="13716"/>
          </a:xfrm>
          <a:prstGeom prst="rect">
            <a:avLst/>
          </a:prstGeom>
          <a:solidFill>
            <a:srgbClr val="E8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31520" y="5486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D71920"/>
                </a:solidFill>
                <a:latin typeface="Syncopate"/>
              </a:rPr>
              <a:t>CORE ARCHITECTURE TEAM (OFFGRID)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31520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Nikhil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31520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Tech Lead · Subsys A &amp; 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31520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GNC, FSD &amp; Deep JSCC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07792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Vedanth Sai Ram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907792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C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907792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Tri-Modal AI &amp; DEM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84064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Siva Kesava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84064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D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84064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3D GIS GCS &amp; WebGPU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260336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Harika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260336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7260336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Verification &amp; Pitch QA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9436608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Rohith Kumar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9436608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F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436608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NDMA CONOPS &amp; 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(Syncopate)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