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66928"/>
            <a:ext cx="91440" cy="329184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9436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0A1628"/>
                </a:solidFill>
                <a:latin typeface="JetBrains Mono"/>
              </a:rPr>
              <a:t>THE PROBLEM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778240" y="548640"/>
            <a:ext cx="2651760" cy="3291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961120" y="658368"/>
            <a:ext cx="91440" cy="914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603504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i="0">
                <a:solidFill>
                  <a:srgbClr val="475569"/>
                </a:solidFill>
                <a:latin typeface="JetBrains Mono"/>
              </a:rPr>
              <a:t>RESCUE DRONE FAILURE MODES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123444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Plus Jakarta Sans"/>
              </a:rPr>
              <a:t>GPS Loss and Radio Blackouts Cripple Disaster Rescue</a:t>
            </a:r>
          </a:p>
        </p:txBody>
      </p:sp>
      <p:sp>
        <p:nvSpPr>
          <p:cNvPr id="48" name="Oval 47"/>
          <p:cNvSpPr/>
          <p:nvPr/>
        </p:nvSpPr>
        <p:spPr>
          <a:xfrm>
            <a:off x="749808" y="2386584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2331720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Mountain valleys cut drone video feeds</a:t>
            </a:r>
          </a:p>
        </p:txBody>
      </p:sp>
      <p:sp>
        <p:nvSpPr>
          <p:cNvPr id="50" name="Oval 49"/>
          <p:cNvSpPr/>
          <p:nvPr/>
        </p:nvSpPr>
        <p:spPr>
          <a:xfrm>
            <a:off x="749808" y="2825496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688" y="2770632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Dense trees block satellite GPS signals</a:t>
            </a:r>
          </a:p>
        </p:txBody>
      </p:sp>
      <p:sp>
        <p:nvSpPr>
          <p:cNvPr id="52" name="Oval 51"/>
          <p:cNvSpPr/>
          <p:nvPr/>
        </p:nvSpPr>
        <p:spPr>
          <a:xfrm>
            <a:off x="749808" y="3264408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2688" y="3209544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Single control towers cause mission failure</a:t>
            </a:r>
          </a:p>
        </p:txBody>
      </p:sp>
      <p:sp>
        <p:nvSpPr>
          <p:cNvPr id="54" name="Oval 53"/>
          <p:cNvSpPr/>
          <p:nvPr/>
        </p:nvSpPr>
        <p:spPr>
          <a:xfrm>
            <a:off x="749808" y="3703320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2688" y="3648456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Manual searching delays finding trapped victims</a:t>
            </a:r>
          </a:p>
        </p:txBody>
      </p:sp>
      <p:sp>
        <p:nvSpPr>
          <p:cNvPr id="56" name="Oval 55"/>
          <p:cNvSpPr/>
          <p:nvPr/>
        </p:nvSpPr>
        <p:spPr>
          <a:xfrm>
            <a:off x="749808" y="4142232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" y="4087368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Military drones cost over $50,000 each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461772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94A3B8"/>
                </a:solidFill>
                <a:latin typeface="JetBrains Mono"/>
              </a:rPr>
              <a:t>TACTICAL FAILURE SCHEMATICS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1520" y="4846320"/>
            <a:ext cx="201168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1248" y="491947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Plus Jakarta Sans"/>
              </a:rPr>
              <a:t>RF Ridge Shadow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5138928"/>
            <a:ext cx="179222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Video Stream Drop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907792" y="4846320"/>
            <a:ext cx="201168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17520" y="491947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Plus Jakarta Sans"/>
              </a:rPr>
              <a:t>Canopy Shadow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5138928"/>
            <a:ext cx="179222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GNSS Multi-Path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84064" y="4846320"/>
            <a:ext cx="201168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193792" y="491947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Plus Jakarta Sans"/>
              </a:rPr>
              <a:t>Central Link Loss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93792" y="5138928"/>
            <a:ext cx="179222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Single Point Abort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0" y="123444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94A3B8"/>
                </a:solidFill>
                <a:latin typeface="JetBrains Mono"/>
              </a:rPr>
              <a:t>REAL DISASTER FIELD EVIDENCE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0" y="1234440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64748B"/>
                </a:solidFill>
                <a:latin typeface="JetBrains Mono"/>
              </a:rPr>
              <a:t>SOURCE 01 / 03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498079" y="1783080"/>
            <a:ext cx="3931920" cy="3474720"/>
          </a:xfrm>
          <a:prstGeom prst="roundRect">
            <a:avLst/>
          </a:prstGeom>
          <a:solidFill>
            <a:srgbClr val="3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406640" y="1691640"/>
            <a:ext cx="4023360" cy="35661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315200" y="1600200"/>
            <a:ext cx="4114800" cy="36576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wayanad_resc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00200"/>
            <a:ext cx="4114800" cy="36576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7315200" y="3291840"/>
            <a:ext cx="4114800" cy="196596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543800" y="178308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692640" y="1783080"/>
            <a:ext cx="1554480" cy="256032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692640" y="181051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JetBrains Mono"/>
              </a:rPr>
              <a:t>GOVT DISASTER AUDIT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43800" y="347472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Plus Jakarta Sans"/>
              </a:rPr>
              <a:t>Wayanad Landslide Search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43800" y="38862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JetBrains Mono"/>
              </a:rPr>
              <a:t>Western Ghats • NDMA Official Disaster Review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43800" y="420624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34D399"/>
                </a:solidFill>
                <a:latin typeface="JetBrains Mono"/>
              </a:rPr>
              <a:t>FIELD BOTTLENECK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43800" y="443484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2E8F0"/>
                </a:solidFill>
                <a:latin typeface="Inter"/>
              </a:rPr>
              <a:t>“70% of commercial drones lost connection behind mountain ridges and crashed under thick tree canopy.”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315200" y="5440680"/>
            <a:ext cx="548640" cy="7315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7955279" y="544068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8138160" y="544068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144000" y="5376672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CONTINUOUS LOOP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