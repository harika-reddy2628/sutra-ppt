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PROBLEM — SUBSYSTEM FAILURE MODES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DISASTER FIELD BOTTLENECKS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09090B"/>
                </a:solidFill>
                <a:latin typeface="Space Grotesk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7889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340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19125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13639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59359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53872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399592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394106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52628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SUBSYSTEM FAILURE SCHEMATICS &amp; VOIDS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791456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A VOID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Canopy GPS Drift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GNSS Multi-Path Crash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791456"/>
            <a:ext cx="190195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980944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B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4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RF Ridge Cut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80944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Digital Cliff Blackout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791456"/>
            <a:ext cx="1901952" cy="5029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157216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C/D VOID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57216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9090B"/>
                </a:solidFill>
                <a:latin typeface="Space Grotesk"/>
              </a:rPr>
              <a:t>Central Link Abort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57216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Single Point Loss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pace Grotesk"/>
              </a:rPr>
              <a:t>Wayanad Landslide Search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73152" cy="29260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5303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02920"/>
            <a:ext cx="246888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03504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4864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SEARCH EFFICIENCY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051560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78308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JetBrains Mono"/>
              </a:rPr>
              <a:t>SYSTEM PERFORMANCE TELEMETRY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2057400"/>
            <a:ext cx="20574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" y="2130552"/>
            <a:ext cx="18379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64748B"/>
                </a:solidFill>
                <a:latin typeface="JetBrains Mono"/>
              </a:rPr>
              <a:t>DETECTION 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" y="2350008"/>
            <a:ext cx="183794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  <a:latin typeface="JetBrains Mono"/>
              </a:rPr>
              <a:t>78-85%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" y="2715768"/>
            <a:ext cx="18379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94A3B8"/>
                </a:solidFill>
                <a:latin typeface="JetBrains Mono"/>
              </a:rPr>
              <a:t>First-pass probability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71800" y="2057400"/>
            <a:ext cx="20574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81528" y="2130552"/>
            <a:ext cx="18379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64748B"/>
                </a:solidFill>
                <a:latin typeface="JetBrains Mono"/>
              </a:rPr>
              <a:t>AREA SPEED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81528" y="2350008"/>
            <a:ext cx="183794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9090B"/>
                </a:solidFill>
                <a:latin typeface="JetBrains Mono"/>
              </a:rPr>
              <a:t>10-18 min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81528" y="2715768"/>
            <a:ext cx="18379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94A3B8"/>
                </a:solidFill>
                <a:latin typeface="JetBrains Mono"/>
              </a:rPr>
              <a:t>Per sq mile (vs 2-3 hrs)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1520" y="3182112"/>
            <a:ext cx="20574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3255264"/>
            <a:ext cx="18379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64748B"/>
                </a:solidFill>
                <a:latin typeface="JetBrains Mono"/>
              </a:rPr>
              <a:t>COMMS PROTOCOL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" y="3474720"/>
            <a:ext cx="183794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9090B"/>
                </a:solidFill>
                <a:latin typeface="JetBrains Mono"/>
              </a:rPr>
              <a:t>Mesh Net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3840480"/>
            <a:ext cx="18379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94A3B8"/>
                </a:solidFill>
                <a:latin typeface="JetBrains Mono"/>
              </a:rPr>
              <a:t>GPS-Denied Autonomous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71800" y="3182112"/>
            <a:ext cx="20574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81528" y="3255264"/>
            <a:ext cx="18379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64748B"/>
                </a:solidFill>
                <a:latin typeface="JetBrains Mono"/>
              </a:rPr>
              <a:t>SUSTAINED AUTONOMY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81528" y="3474720"/>
            <a:ext cx="183794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9090B"/>
                </a:solidFill>
                <a:latin typeface="JetBrains Mono"/>
              </a:rPr>
              <a:t>24/7 (11+ 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81528" y="3840480"/>
            <a:ext cx="18379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94A3B8"/>
                </a:solidFill>
                <a:latin typeface="JetBrains Mono"/>
              </a:rPr>
              <a:t>Continuous field sorties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1520" y="4306824"/>
            <a:ext cx="20574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1248" y="4379976"/>
            <a:ext cx="18379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64748B"/>
                </a:solidFill>
                <a:latin typeface="JetBrains Mono"/>
              </a:rPr>
              <a:t>FALSE POSITIVES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4599432"/>
            <a:ext cx="183794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  <a:latin typeface="JetBrains Mono"/>
              </a:rPr>
              <a:t>12%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" y="4965192"/>
            <a:ext cx="18379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94A3B8"/>
                </a:solidFill>
                <a:latin typeface="JetBrains Mono"/>
              </a:rPr>
              <a:t>Down from 35% legacy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971800" y="4306824"/>
            <a:ext cx="2057400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81528" y="4379976"/>
            <a:ext cx="183794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64748B"/>
                </a:solidFill>
                <a:latin typeface="JetBrains Mono"/>
              </a:rPr>
              <a:t>DEPLOYMENT COST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1528" y="4599432"/>
            <a:ext cx="1837944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9090B"/>
                </a:solidFill>
                <a:latin typeface="JetBrains Mono"/>
              </a:rPr>
              <a:t>$12K ($15K)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81528" y="4965192"/>
            <a:ext cx="18379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94A3B8"/>
                </a:solidFill>
                <a:latin typeface="JetBrains Mono"/>
              </a:rPr>
              <a:t>Per sortie deployment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03520" y="1783080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JetBrains Mono"/>
              </a:rPr>
              <a:t>SUBSYSTEM MOAT ARCHITECTURE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6800" y="178308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>
                <a:solidFill>
                  <a:srgbClr val="047857"/>
                </a:solidFill>
                <a:latin typeface="JetBrains Mono"/>
              </a:rPr>
              <a:t>3 CORE ENGINEERING MOATS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03520" y="2057400"/>
            <a:ext cx="6126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86400" y="2167128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Subsystem A Moat: PX4 + VIO EKF2 Autopilot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875520" y="2167128"/>
            <a:ext cx="137160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875520" y="21854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2459736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475569"/>
                </a:solidFill>
                <a:latin typeface="JetBrains Mono"/>
              </a:rPr>
              <a:t>Decentralized 3D ORCA anti-collision with zero tower reliance and active GPS-denied flocking algorithms.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0" y="3182112"/>
            <a:ext cx="6126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0" y="32918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Subsystem B Moat: Deep JSCC Neural Video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875520" y="3291840"/>
            <a:ext cx="137160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75520" y="3310128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09090B"/>
                </a:solidFill>
                <a:latin typeface="JetBrains Mono"/>
              </a:rPr>
              <a:t>-5dB RESILIENT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0" y="3584448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475569"/>
                </a:solidFill>
                <a:latin typeface="JetBrains Mono"/>
              </a:rPr>
              <a:t>Zero-cliff neural semantic video encoding with graceful degradation under severe mountain ravine occlusion.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303520" y="4306824"/>
            <a:ext cx="6126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0" y="4416552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Subsystem C/D Moat: 3D DEM Terrain Raycasting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75520" y="4416552"/>
            <a:ext cx="137160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875520" y="443484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0" y="4709160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80" b="0" i="0">
                <a:solidFill>
                  <a:srgbClr val="475569"/>
                </a:solidFill>
                <a:latin typeface="JetBrains Mono"/>
              </a:rPr>
              <a:t>Sub-15ms edge YOLOv8-Pose with WGS84 elevation raycasting, eliminating 15-30m flat-Earth geolocation errors.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31520" y="5349240"/>
            <a:ext cx="25146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2960" y="544068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28800" y="54132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$8.94B Market 2033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465576" y="5349240"/>
            <a:ext cx="25146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57016" y="544068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62856" y="54132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199632" y="5349240"/>
            <a:ext cx="25146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544068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96912" y="54132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33688" y="5349240"/>
            <a:ext cx="2514600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025128" y="544068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FEMA ALLOCATION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30968" y="541324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$180M in 2025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31520" y="603504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31520" y="614476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0" y="6144768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