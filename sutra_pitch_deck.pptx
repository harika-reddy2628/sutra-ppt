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71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71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288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288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8288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88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8288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288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860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2860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860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2860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2860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2860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860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7432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7432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7432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432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7432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7432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7432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7432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2004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004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2004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2004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2004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004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2004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2004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2004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004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576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6576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6576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657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657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657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657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6576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6576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6576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1148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1148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1148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1148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1148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1148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1148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1148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1148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1148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1148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5720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5720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5720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5720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5720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5720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5720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5720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720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720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5720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0292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0292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0292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0292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0292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0292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0292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0292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0292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0292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0292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54864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54864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4864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4864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4864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4864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54864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4864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54864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54864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54864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59436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59436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9436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9436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943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943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5943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9436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59436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59436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4008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4008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4008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4008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64008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64008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64008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64008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64008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64008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64008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8580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68580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8580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68580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68580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8580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8580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8580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8580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8580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8580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73152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73152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73152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73152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73152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3152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3152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73152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73152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3152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73152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7772400" y="914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77724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77724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77724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77724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77724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77724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77724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77724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77724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77724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82296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2296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2296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229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229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229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229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2296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2296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2296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6868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6868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6868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6868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6868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86868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86868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86868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86868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6868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144000" y="1371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1440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91440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91440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91440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91440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1440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91440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91440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9144000" y="5486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96012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96012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96012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6012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6012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96012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96012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96012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058400" y="1828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0584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00584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00584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00584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00584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00584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0058400" y="5029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0515600" y="2286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0515600" y="27432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0515600" y="32004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0515600" y="36576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0515600" y="41148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0515600" y="4572000"/>
            <a:ext cx="22860" cy="22860"/>
          </a:xfrm>
          <a:prstGeom prst="ellipse">
            <a:avLst/>
          </a:prstGeom>
          <a:solidFill>
            <a:srgbClr val="DCD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731520" y="594360"/>
            <a:ext cx="109728" cy="109728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6012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7A7576"/>
                </a:solidFill>
                <a:latin typeface="JetBrains Mono"/>
              </a:rPr>
              <a:t>(TEAM OFFGRID)  /  DEFENSE &amp; DISASTER ROBOTICS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7772400" y="56692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50" b="1">
                <a:solidFill>
                  <a:srgbClr val="7A7576"/>
                </a:solidFill>
                <a:latin typeface="JetBrains Mono"/>
              </a:rPr>
              <a:t>AUG 2026  •  REV 1.0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31520" y="2194560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7A7576"/>
                </a:solidFill>
                <a:latin typeface="JetBrains Mono"/>
              </a:rPr>
              <a:t>[ AUTONOMOUS MULTI-UAV SWARM ARCHITECTURE ]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31520" y="2542032"/>
            <a:ext cx="731520" cy="228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536192" y="2505456"/>
            <a:ext cx="73152" cy="73152"/>
          </a:xfrm>
          <a:prstGeom prst="ellipse">
            <a:avLst/>
          </a:prstGeom>
          <a:solidFill>
            <a:srgbClr val="1915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1682496" y="2542032"/>
            <a:ext cx="365760" cy="22860"/>
          </a:xfrm>
          <a:prstGeom prst="rect">
            <a:avLst/>
          </a:prstGeom>
          <a:solidFill>
            <a:srgbClr val="E8E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31520" y="278892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600" b="1">
                <a:solidFill>
                  <a:srgbClr val="191516"/>
                </a:solidFill>
                <a:latin typeface="Space Grotesk"/>
              </a:rPr>
              <a:t>PROJECT SUTRA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731520" y="393192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7A7576"/>
                </a:solidFill>
                <a:latin typeface="Space Grotesk"/>
              </a:rPr>
              <a:t>Swarm Unified Tactical Reconnaissance Architecture for GPS-Denied and Jammed Mountain Environments.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31520" y="5349240"/>
            <a:ext cx="10728655" cy="13716"/>
          </a:xfrm>
          <a:prstGeom prst="rect">
            <a:avLst/>
          </a:prstGeom>
          <a:solidFill>
            <a:srgbClr val="E8E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31520" y="54864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D71920"/>
                </a:solidFill>
                <a:latin typeface="JetBrains Mono"/>
              </a:rPr>
              <a:t>CORE ARCHITECTURE TEAM (OFFGRID)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731520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Nikhil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31520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Tech Lead · Subsys A &amp; 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31520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GNC, FSD &amp; Deep JSCC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2907792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Vedanth Sai Ram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2907792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Lead · Subsystem C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2907792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Tri-Modal AI &amp; DEM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084064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Siva Kesava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5084064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Lead · Subsystem D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5084064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3D GIS GCS &amp; WebGPU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260336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Harika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7260336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Lead · Subsystem E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7260336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Verification &amp; Pitch QA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9436608" y="576072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91516"/>
                </a:solidFill>
                <a:latin typeface="JetBrains Mono"/>
              </a:rPr>
              <a:t>Rohith Kumar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9436608" y="5989320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A7576"/>
                </a:solidFill>
                <a:latin typeface="JetBrains Mono"/>
              </a:rPr>
              <a:t>Lead · Subsystem F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9436608" y="6190488"/>
            <a:ext cx="20116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>
                <a:solidFill>
                  <a:srgbClr val="A09A97"/>
                </a:solidFill>
                <a:latin typeface="JetBrains Mono"/>
              </a:rPr>
              <a:t>NDMA CONOPS &amp; Ops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Title Slide (Nothing Light Theme)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