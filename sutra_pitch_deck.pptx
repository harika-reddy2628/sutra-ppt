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31520" y="502920"/>
            <a:ext cx="320040" cy="3200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5669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Plus Jakarta Sans"/>
              </a:rPr>
              <a:t>TEAM OFFGRID  /  DEFENSE &amp; DISASTER ROBOTICS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61120" y="530352"/>
            <a:ext cx="1645920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098280" y="621792"/>
            <a:ext cx="73152" cy="73152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35440" y="585216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 i="0">
                <a:solidFill>
                  <a:srgbClr val="475569"/>
                </a:solidFill>
                <a:latin typeface="Plus Jakarta Sans"/>
              </a:rPr>
              <a:t>AUTONOMOUS SWARM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80" y="56692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JetBrains Mono"/>
              </a:rPr>
              <a:t>AUG 2026 • REV 1.0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1">
                <a:solidFill>
                  <a:srgbClr val="000000"/>
                </a:solidFill>
                <a:latin typeface="Georgia"/>
              </a:rPr>
              <a:t>“When GPS fails and RF links jam, SUTRA geonavigates and locates survivors in real-time.”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1874519"/>
            <a:ext cx="32004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" y="1874519"/>
            <a:ext cx="18288" cy="320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86400" y="3429000"/>
            <a:ext cx="32004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88152" y="3127248"/>
            <a:ext cx="18288" cy="320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1874519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200" b="1" i="0">
                <a:solidFill>
                  <a:srgbClr val="000000"/>
                </a:solidFill>
                <a:latin typeface="Plus Jakarta Sans"/>
              </a:rPr>
              <a:t>PROJECT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256032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200" b="0" i="1">
                <a:solidFill>
                  <a:srgbClr val="475569"/>
                </a:solidFill>
                <a:latin typeface="Plus Jakarta Sans"/>
              </a:rPr>
              <a:t>SUTRA.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3364992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Inter"/>
              </a:rPr>
              <a:t>Swarm Unified Tactical Reconnaissance Architecture — decentralized multi-UAV flight, Deep JSCC neural zero-cliff video, and 3.59cm terrain-corrected DEM survivor geolocation.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" y="3931920"/>
            <a:ext cx="24688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77440" y="388620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800" b="1" i="0">
                <a:solidFill>
                  <a:srgbClr val="F1F5F9"/>
                </a:solidFill>
                <a:latin typeface="JetBrains Mono"/>
              </a:rPr>
              <a:t>01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41248" y="4023360"/>
            <a:ext cx="1188720" cy="18288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1248" y="4041648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20" b="1" i="0">
                <a:solidFill>
                  <a:srgbClr val="FFFFFF"/>
                </a:solidFill>
                <a:latin typeface="Plus Jakarta Sans"/>
              </a:rPr>
              <a:t>DECENTRALIZED GNC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" y="42519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Plus Jakarta Sans"/>
              </a:rPr>
              <a:t>50Hz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0" y="431596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  <a:latin typeface="Plus Jakarta Sans"/>
              </a:rPr>
              <a:t>Offboard Rate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1248" y="4663440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Inter"/>
              </a:rPr>
              <a:t>PX4 MicroXRCE + VIO EKF2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383280" y="3931920"/>
            <a:ext cx="24688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0" y="388620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800" b="1" i="0">
                <a:solidFill>
                  <a:srgbClr val="F1F5F9"/>
                </a:solidFill>
                <a:latin typeface="JetBrains Mono"/>
              </a:rPr>
              <a:t>02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493008" y="4023360"/>
            <a:ext cx="1188720" cy="18288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93008" y="4041648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20" b="1" i="0">
                <a:solidFill>
                  <a:srgbClr val="FFFFFF"/>
                </a:solidFill>
                <a:latin typeface="Plus Jakarta Sans"/>
              </a:rPr>
              <a:t>SEMANTIC WIRELESS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93008" y="42519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Plus Jakarta Sans"/>
              </a:rPr>
              <a:t>-5dB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80560" y="431596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  <a:latin typeface="Plus Jakarta Sans"/>
              </a:rPr>
              <a:t>Jam Resilience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93008" y="4663440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Inter"/>
              </a:rPr>
              <a:t>Deep JSCC Zero-Cliff Video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035040" y="3931920"/>
            <a:ext cx="24688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680960" y="388620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800" b="1" i="0">
                <a:solidFill>
                  <a:srgbClr val="F1F5F9"/>
                </a:solidFill>
                <a:latin typeface="JetBrains Mono"/>
              </a:rPr>
              <a:t>03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44768" y="4023360"/>
            <a:ext cx="1188720" cy="18288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44768" y="4041648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20" b="1" i="0">
                <a:solidFill>
                  <a:srgbClr val="FFFFFF"/>
                </a:solidFill>
                <a:latin typeface="Plus Jakarta Sans"/>
              </a:rPr>
              <a:t>TERRAIN GEOLOCATION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44768" y="42519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Plus Jakarta Sans"/>
              </a:rPr>
              <a:t>3.59cm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32320" y="431596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  <a:latin typeface="Plus Jakarta Sans"/>
              </a:rPr>
              <a:t>Geo-Accuracy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44768" y="4663440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Inter"/>
              </a:rPr>
              <a:t>WGS84 3D DEM Raycasting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5166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1520" y="525780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Plus Jakarta Sans"/>
              </a:rPr>
              <a:t>CORE ARCHITECTURE TEAM (OFFGRID)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0" y="5257800"/>
            <a:ext cx="460217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475569"/>
                </a:solidFill>
                <a:latin typeface="Plus Jakarta Sans"/>
              </a:rPr>
              <a:t>RESEARCH-BACKED &amp; EMPIRICALLY VALIDATED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31520" y="5486400"/>
            <a:ext cx="20116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1248" y="555955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Plus Jakarta Sans"/>
              </a:rPr>
              <a:t>Nikhil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1248" y="5779008"/>
            <a:ext cx="179222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Inter"/>
              </a:rPr>
              <a:t>Tech Lead · Subsys A &amp; B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41248" y="6080760"/>
            <a:ext cx="1097280" cy="20116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1248" y="6099048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Plus Jakarta Sans"/>
              </a:rPr>
              <a:t>GNC &amp; JSCC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907792" y="5486400"/>
            <a:ext cx="20116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17520" y="555955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Plus Jakarta Sans"/>
              </a:rPr>
              <a:t>Vedanth Sai Ram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17520" y="5779008"/>
            <a:ext cx="179222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Inter"/>
              </a:rPr>
              <a:t>Lead · Subsystem C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017520" y="6080760"/>
            <a:ext cx="1097280" cy="20116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17520" y="6099048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80" b="1" i="0">
                <a:solidFill>
                  <a:srgbClr val="0A1628"/>
                </a:solidFill>
                <a:latin typeface="Plus Jakarta Sans"/>
              </a:rPr>
              <a:t>AI PERCEPTION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084064" y="5486400"/>
            <a:ext cx="20116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193792" y="555955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Plus Jakarta Sans"/>
              </a:rPr>
              <a:t>Siva Kesava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193792" y="5779008"/>
            <a:ext cx="179222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Inter"/>
              </a:rPr>
              <a:t>Lead · Subsystem D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193792" y="6080760"/>
            <a:ext cx="1097280" cy="20116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193792" y="6099048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80" b="1" i="0">
                <a:solidFill>
                  <a:srgbClr val="0A1628"/>
                </a:solidFill>
                <a:latin typeface="Plus Jakarta Sans"/>
              </a:rPr>
              <a:t>3D GIS GCS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260336" y="5486400"/>
            <a:ext cx="20116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70064" y="555955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Plus Jakarta Sans"/>
              </a:rPr>
              <a:t>Harika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70064" y="5779008"/>
            <a:ext cx="179222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Inter"/>
              </a:rPr>
              <a:t>Lead · Subsystem E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370064" y="6080760"/>
            <a:ext cx="1097280" cy="20116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370064" y="6099048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80" b="1" i="0">
                <a:solidFill>
                  <a:srgbClr val="0A1628"/>
                </a:solidFill>
                <a:latin typeface="Plus Jakarta Sans"/>
              </a:rPr>
              <a:t>VERIFICATION QA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436608" y="5486400"/>
            <a:ext cx="20116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546336" y="555955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Plus Jakarta Sans"/>
              </a:rPr>
              <a:t>Rohith Kumar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546336" y="5779008"/>
            <a:ext cx="179222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Inter"/>
              </a:rPr>
              <a:t>Lead · Subsystem F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546336" y="6080760"/>
            <a:ext cx="1097280" cy="20116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546336" y="6099048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80" b="1" i="0">
                <a:solidFill>
                  <a:srgbClr val="0A1628"/>
                </a:solidFill>
                <a:latin typeface="Plus Jakarta Sans"/>
              </a:rPr>
              <a:t>NDMA CONOPS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31520" y="566928"/>
            <a:ext cx="91440" cy="329184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5943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  <a:latin typeface="JetBrains Mono"/>
              </a:rPr>
              <a:t>THE PROBLEM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78240" y="548640"/>
            <a:ext cx="2651760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961120" y="658368"/>
            <a:ext cx="91440" cy="91440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80" y="60350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475569"/>
                </a:solidFill>
                <a:latin typeface="JetBrains Mono"/>
              </a:rPr>
              <a:t>RESCUE DRONE FAILURE MODES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118872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Plus Jakarta Sans"/>
              </a:rPr>
              <a:t>GPS Loss and Radio Blackouts Cripple Disaster Rescue</a:t>
            </a:r>
          </a:p>
        </p:txBody>
      </p:sp>
      <p:sp>
        <p:nvSpPr>
          <p:cNvPr id="48" name="Oval 47"/>
          <p:cNvSpPr/>
          <p:nvPr/>
        </p:nvSpPr>
        <p:spPr>
          <a:xfrm>
            <a:off x="749808" y="2432304"/>
            <a:ext cx="82296" cy="82296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237744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  <a:latin typeface="Inter"/>
              </a:rPr>
              <a:t>Mountain valleys cut drone video feeds</a:t>
            </a:r>
          </a:p>
        </p:txBody>
      </p:sp>
      <p:sp>
        <p:nvSpPr>
          <p:cNvPr id="50" name="Oval 49"/>
          <p:cNvSpPr/>
          <p:nvPr/>
        </p:nvSpPr>
        <p:spPr>
          <a:xfrm>
            <a:off x="749808" y="2871216"/>
            <a:ext cx="82296" cy="82296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" y="2816352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  <a:latin typeface="Inter"/>
              </a:rPr>
              <a:t>Dense trees block satellite GPS signals</a:t>
            </a:r>
          </a:p>
        </p:txBody>
      </p:sp>
      <p:sp>
        <p:nvSpPr>
          <p:cNvPr id="52" name="Oval 51"/>
          <p:cNvSpPr/>
          <p:nvPr/>
        </p:nvSpPr>
        <p:spPr>
          <a:xfrm>
            <a:off x="749808" y="3310128"/>
            <a:ext cx="82296" cy="82296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" y="3255264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  <a:latin typeface="Inter"/>
              </a:rPr>
              <a:t>Single control towers cause mission failure</a:t>
            </a:r>
          </a:p>
        </p:txBody>
      </p:sp>
      <p:sp>
        <p:nvSpPr>
          <p:cNvPr id="54" name="Oval 53"/>
          <p:cNvSpPr/>
          <p:nvPr/>
        </p:nvSpPr>
        <p:spPr>
          <a:xfrm>
            <a:off x="749808" y="3749040"/>
            <a:ext cx="82296" cy="82296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688" y="3694176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  <a:latin typeface="Inter"/>
              </a:rPr>
              <a:t>Manual searching delays finding trapped victims</a:t>
            </a:r>
          </a:p>
        </p:txBody>
      </p:sp>
      <p:sp>
        <p:nvSpPr>
          <p:cNvPr id="56" name="Oval 55"/>
          <p:cNvSpPr/>
          <p:nvPr/>
        </p:nvSpPr>
        <p:spPr>
          <a:xfrm>
            <a:off x="749808" y="4187952"/>
            <a:ext cx="82296" cy="82296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" y="4133088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  <a:latin typeface="Inter"/>
              </a:rPr>
              <a:t>Military drones cost over $50,000 each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61772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 i="0">
                <a:solidFill>
                  <a:srgbClr val="94A3B8"/>
                </a:solidFill>
                <a:latin typeface="JetBrains Mono"/>
              </a:rPr>
              <a:t>TACTICAL FAILURE SCHEMATICS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4828032"/>
            <a:ext cx="2011680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rf_mountain_shad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4864608"/>
            <a:ext cx="1901952" cy="50292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04672" y="5413248"/>
            <a:ext cx="186537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Plus Jakarta Sans"/>
              </a:rPr>
              <a:t>RF Ridge Shadow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2" y="5577840"/>
            <a:ext cx="1865376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50" b="0" i="0">
                <a:solidFill>
                  <a:srgbClr val="64748B"/>
                </a:solidFill>
                <a:latin typeface="JetBrains Mono"/>
              </a:rPr>
              <a:t>Video Stream Severance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907792" y="4828032"/>
            <a:ext cx="2011680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gps_canopy_shado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656" y="4864608"/>
            <a:ext cx="1901952" cy="50292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2980944" y="5413248"/>
            <a:ext cx="186537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Plus Jakarta Sans"/>
              </a:rPr>
              <a:t>Canopy Shadow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80944" y="5577840"/>
            <a:ext cx="1865376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50" b="0" i="0">
                <a:solidFill>
                  <a:srgbClr val="64748B"/>
                </a:solidFill>
                <a:latin typeface="JetBrains Mono"/>
              </a:rPr>
              <a:t>GNSS Multi-Path Drift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084064" y="4828032"/>
            <a:ext cx="2011680" cy="9326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single_link_los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4864608"/>
            <a:ext cx="1901952" cy="50292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157216" y="5413248"/>
            <a:ext cx="186537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Plus Jakarta Sans"/>
              </a:rPr>
              <a:t>Central Link Loss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57216" y="5577840"/>
            <a:ext cx="1865376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50" b="0" i="0">
                <a:solidFill>
                  <a:srgbClr val="64748B"/>
                </a:solidFill>
                <a:latin typeface="JetBrains Mono"/>
              </a:rPr>
              <a:t>Single Point Abort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0" y="123444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  <a:latin typeface="JetBrains Mono"/>
              </a:rPr>
              <a:t>REAL DISASTER FIELD EVIDENCE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75520" y="123444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1" i="0">
                <a:solidFill>
                  <a:srgbClr val="64748B"/>
                </a:solidFill>
                <a:latin typeface="JetBrains Mono"/>
              </a:rPr>
              <a:t>SOURCE 01 / 03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498079" y="1783080"/>
            <a:ext cx="3931920" cy="3474720"/>
          </a:xfrm>
          <a:prstGeom prst="round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406640" y="1691640"/>
            <a:ext cx="4023360" cy="35661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315200" y="1600200"/>
            <a:ext cx="4114800" cy="36576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wayanad_rescu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600200"/>
            <a:ext cx="4114800" cy="3657600"/>
          </a:xfrm>
          <a:prstGeom prst="rect">
            <a:avLst/>
          </a:prstGeom>
        </p:spPr>
      </p:pic>
      <p:sp>
        <p:nvSpPr>
          <p:cNvPr id="77" name="Rectangle 76"/>
          <p:cNvSpPr/>
          <p:nvPr/>
        </p:nvSpPr>
        <p:spPr>
          <a:xfrm>
            <a:off x="7315200" y="3291840"/>
            <a:ext cx="4114800" cy="19659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543800" y="1783080"/>
            <a:ext cx="365760" cy="36576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9692640" y="1783080"/>
            <a:ext cx="1554480" cy="256032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92640" y="181051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JetBrains Mono"/>
              </a:rPr>
              <a:t>GOVT DISASTER AUDIT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43800" y="34747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lus Jakarta Sans"/>
              </a:rPr>
              <a:t>Wayanad Landslide Search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43800" y="38862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JetBrains Mono"/>
              </a:rPr>
              <a:t>Western Ghats • NDMA Official Disaster Review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43800" y="420624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 i="0">
                <a:solidFill>
                  <a:srgbClr val="34D399"/>
                </a:solidFill>
                <a:latin typeface="JetBrains Mono"/>
              </a:rPr>
              <a:t>FIELD BOTTLENECK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43800" y="443484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Inter"/>
              </a:rPr>
              <a:t>“70% of commercial drones lost connection behind mountain ridges and crashed under thick tree canopy.”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0" y="5440680"/>
            <a:ext cx="548640" cy="7315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7955279" y="5440680"/>
            <a:ext cx="109728" cy="7315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8138160" y="5440680"/>
            <a:ext cx="109728" cy="7315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144000" y="537667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  <a:latin typeface="JetBrains Mono"/>
              </a:rPr>
              <a:t>CONTINUOUS LOOP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59436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31520" y="60807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</a:rPr>
              <a:t>PAGE 02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0" y="6080760"/>
            <a:ext cx="46021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0A1628"/>
                </a:solidFill>
                <a:latin typeface="JetBrains Mono"/>
              </a:rPr>
              <a:t>TEAM OFFGRID — PROJECT SUTRA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31520" y="566928"/>
            <a:ext cx="91440" cy="329184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5943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  <a:latin typeface="JetBrains Mono"/>
              </a:rPr>
              <a:t>THE SOLUTION / BENCHMARK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78240" y="548640"/>
            <a:ext cx="2651760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961120" y="658368"/>
            <a:ext cx="91440" cy="9144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80" y="60350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047857"/>
                </a:solidFill>
                <a:latin typeface="JetBrains Mono"/>
              </a:rPr>
              <a:t>SWARM SEARCH EFFICIENCY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118872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Plus Jakarta Sans"/>
              </a:rPr>
              <a:t>AI Swarm Drones Find Survivors 3-4x Faster Than Traditional SAR</a:t>
            </a:r>
          </a:p>
        </p:txBody>
      </p:sp>
      <p:sp>
        <p:nvSpPr>
          <p:cNvPr id="48" name="Oval 47"/>
          <p:cNvSpPr/>
          <p:nvPr/>
        </p:nvSpPr>
        <p:spPr>
          <a:xfrm>
            <a:off x="749808" y="2386584"/>
            <a:ext cx="82296" cy="82296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233172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Inter"/>
              </a:rPr>
              <a:t>78-85% survivor detection on first pass</a:t>
            </a:r>
          </a:p>
        </p:txBody>
      </p:sp>
      <p:sp>
        <p:nvSpPr>
          <p:cNvPr id="50" name="Oval 49"/>
          <p:cNvSpPr/>
          <p:nvPr/>
        </p:nvSpPr>
        <p:spPr>
          <a:xfrm>
            <a:off x="749808" y="2752344"/>
            <a:ext cx="82296" cy="82296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" y="269748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Inter"/>
              </a:rPr>
              <a:t>10-18 min per sq mile speed</a:t>
            </a:r>
          </a:p>
        </p:txBody>
      </p:sp>
      <p:sp>
        <p:nvSpPr>
          <p:cNvPr id="52" name="Oval 51"/>
          <p:cNvSpPr/>
          <p:nvPr/>
        </p:nvSpPr>
        <p:spPr>
          <a:xfrm>
            <a:off x="749808" y="3118104"/>
            <a:ext cx="82296" cy="82296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" y="306324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Inter"/>
              </a:rPr>
              <a:t>Mesh networking works in GPS-denied zones</a:t>
            </a:r>
          </a:p>
        </p:txBody>
      </p:sp>
      <p:sp>
        <p:nvSpPr>
          <p:cNvPr id="54" name="Oval 53"/>
          <p:cNvSpPr/>
          <p:nvPr/>
        </p:nvSpPr>
        <p:spPr>
          <a:xfrm>
            <a:off x="749808" y="3483864"/>
            <a:ext cx="82296" cy="82296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688" y="342900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Inter"/>
              </a:rPr>
              <a:t>24/7 autonomous operation for 11+ days</a:t>
            </a:r>
          </a:p>
        </p:txBody>
      </p:sp>
      <p:sp>
        <p:nvSpPr>
          <p:cNvPr id="56" name="Oval 55"/>
          <p:cNvSpPr/>
          <p:nvPr/>
        </p:nvSpPr>
        <p:spPr>
          <a:xfrm>
            <a:off x="749808" y="3849624"/>
            <a:ext cx="82296" cy="82296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" y="379476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Inter"/>
              </a:rPr>
              <a:t>False positive rate down to 12%</a:t>
            </a:r>
          </a:p>
        </p:txBody>
      </p:sp>
      <p:sp>
        <p:nvSpPr>
          <p:cNvPr id="58" name="Oval 57"/>
          <p:cNvSpPr/>
          <p:nvPr/>
        </p:nvSpPr>
        <p:spPr>
          <a:xfrm>
            <a:off x="749808" y="4215384"/>
            <a:ext cx="82296" cy="82296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416052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Inter"/>
              </a:rPr>
              <a:t>Cost per deployment: $12K vs $15K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466344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 i="0">
                <a:solidFill>
                  <a:srgbClr val="94A3B8"/>
                </a:solidFill>
                <a:latin typeface="JetBrains Mono"/>
              </a:rPr>
              <a:t>MARKET VALIDATION &amp; ADOPTION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1520" y="4892040"/>
            <a:ext cx="1353312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4672" y="4956048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Plus Jakarta Sans"/>
              </a:rPr>
              <a:t>$8.94B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4672" y="5230368"/>
            <a:ext cx="120700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80" b="0" i="0">
                <a:solidFill>
                  <a:srgbClr val="64748B"/>
                </a:solidFill>
                <a:latin typeface="JetBrains Mono"/>
              </a:rPr>
              <a:t>By 2033 (18.4% CAGR)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194560" y="4892040"/>
            <a:ext cx="1353312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67712" y="4956048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Plus Jakarta Sans"/>
              </a:rPr>
              <a:t>+412%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67712" y="5230368"/>
            <a:ext cx="120700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80" b="0" i="0">
                <a:solidFill>
                  <a:srgbClr val="64748B"/>
                </a:solidFill>
                <a:latin typeface="JetBrains Mono"/>
              </a:rPr>
              <a:t>Disaster Surge (20 Yrs)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657600" y="4892040"/>
            <a:ext cx="1353312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730752" y="4956048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Plus Jakarta Sans"/>
              </a:rPr>
              <a:t>37 Nations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30752" y="5230368"/>
            <a:ext cx="120700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80" b="0" i="0">
                <a:solidFill>
                  <a:srgbClr val="64748B"/>
                </a:solidFill>
                <a:latin typeface="JetBrains Mono"/>
              </a:rPr>
              <a:t>Mandated SAR Drones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120640" y="4892040"/>
            <a:ext cx="1353312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93792" y="4956048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Plus Jakarta Sans"/>
              </a:rPr>
              <a:t>$180M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93792" y="5230368"/>
            <a:ext cx="120700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80" b="0" i="0">
                <a:solidFill>
                  <a:srgbClr val="64748B"/>
                </a:solidFill>
                <a:latin typeface="JetBrains Mono"/>
              </a:rPr>
              <a:t>FEMA 2025 Budget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766560" y="1234440"/>
            <a:ext cx="4693615" cy="3017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49440" y="13258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 i="0">
                <a:solidFill>
                  <a:srgbClr val="94A3B8"/>
                </a:solidFill>
                <a:latin typeface="JetBrains Mono"/>
              </a:rPr>
              <a:t>BENCHMARK MATRIX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0" y="153619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Plus Jakarta Sans"/>
              </a:rPr>
              <a:t>Search &amp; Rescue Performance Comparison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949440" y="1874519"/>
            <a:ext cx="43278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49440" y="196596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 i="0">
                <a:solidFill>
                  <a:srgbClr val="94A3B8"/>
                </a:solidFill>
                <a:latin typeface="JetBrains Mono"/>
              </a:rPr>
              <a:t>METRIC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95360" y="196596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JetBrains Mono"/>
              </a:rPr>
              <a:t>TRADITIONAL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26880" y="196596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JetBrains Mono"/>
              </a:rPr>
              <a:t>SINGLE DRONE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41280" y="196596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 i="0">
                <a:solidFill>
                  <a:srgbClr val="047857"/>
                </a:solidFill>
                <a:latin typeface="JetBrains Mono"/>
              </a:rPr>
              <a:t>AI SWARM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49440" y="22402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Inter"/>
              </a:rPr>
              <a:t>Deployment Time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95360" y="22402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JetBrains Mono"/>
              </a:rPr>
              <a:t>45-90 min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26880" y="22402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JetBrains Mono"/>
              </a:rPr>
              <a:t>15-30 min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241280" y="2203704"/>
            <a:ext cx="1005840" cy="2743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241280" y="22402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047857"/>
                </a:solidFill>
                <a:latin typeface="JetBrains Mono"/>
              </a:rPr>
              <a:t>8-15 min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49440" y="267919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Inter"/>
              </a:rPr>
              <a:t>Area Coverage / mi²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95360" y="267919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JetBrains Mono"/>
              </a:rPr>
              <a:t>2-3 hours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326880" y="26791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JetBrains Mono"/>
              </a:rPr>
              <a:t>45-60 min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241280" y="2642616"/>
            <a:ext cx="1005840" cy="2743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241280" y="267919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047857"/>
                </a:solidFill>
                <a:latin typeface="JetBrains Mono"/>
              </a:rPr>
              <a:t>10-18 min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949440" y="3118104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Inter"/>
              </a:rPr>
              <a:t>Detection Rate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95360" y="311810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JetBrains Mono"/>
              </a:rPr>
              <a:t>65-70%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26880" y="31181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JetBrains Mono"/>
              </a:rPr>
              <a:t>55-65%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0241280" y="3081528"/>
            <a:ext cx="1005840" cy="2743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241280" y="311810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047857"/>
                </a:solidFill>
                <a:latin typeface="JetBrains Mono"/>
              </a:rPr>
              <a:t>78-85%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949440" y="355701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Inter"/>
              </a:rPr>
              <a:t>Personnel Required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595360" y="35570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JetBrains Mono"/>
              </a:rPr>
              <a:t>15-25 crew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326880" y="355701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JetBrains Mono"/>
              </a:rPr>
              <a:t>2-3 pilots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241280" y="3520440"/>
            <a:ext cx="1005840" cy="2743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41280" y="355701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047857"/>
                </a:solidFill>
                <a:latin typeface="JetBrains Mono"/>
              </a:rPr>
              <a:t>1-2 operators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766560" y="4389120"/>
            <a:ext cx="4693615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949440" y="448056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 i="0">
                <a:solidFill>
                  <a:srgbClr val="94A3B8"/>
                </a:solidFill>
                <a:latin typeface="JetBrains Mono"/>
              </a:rPr>
              <a:t>SPEED COMPARISON (SQ MILES / HOUR)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01200" y="448056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1" i="0">
                <a:solidFill>
                  <a:srgbClr val="047857"/>
                </a:solidFill>
                <a:latin typeface="JetBrains Mono"/>
              </a:rPr>
              <a:t>3-4X FASTER COVERAGE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49440" y="470916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JetBrains Mono"/>
              </a:rPr>
              <a:t>Traditional Ground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138160" y="4754880"/>
            <a:ext cx="365760" cy="9144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789920" y="470916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00" b="0" i="0">
                <a:solidFill>
                  <a:srgbClr val="64748B"/>
                </a:solidFill>
                <a:latin typeface="JetBrains Mono"/>
              </a:rPr>
              <a:t>0.4 mi²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949440" y="493776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JetBrains Mono"/>
              </a:rPr>
              <a:t>Single Drone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138160" y="4983480"/>
            <a:ext cx="1097280" cy="914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789920" y="493776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00" b="0" i="0">
                <a:solidFill>
                  <a:srgbClr val="64748B"/>
                </a:solidFill>
                <a:latin typeface="JetBrains Mono"/>
              </a:rPr>
              <a:t>1.2 mi²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949440" y="516636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 i="0">
                <a:solidFill>
                  <a:srgbClr val="000000"/>
                </a:solidFill>
                <a:latin typeface="JetBrains Mono"/>
              </a:rPr>
              <a:t>AI Swarm (SUTRA)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138160" y="5212080"/>
            <a:ext cx="2743200" cy="12801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789920" y="516636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1" i="0">
                <a:solidFill>
                  <a:srgbClr val="047857"/>
                </a:solidFill>
                <a:latin typeface="JetBrains Mono"/>
              </a:rPr>
              <a:t>4.5 mi²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31520" y="59436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31520" y="60807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</a:rPr>
              <a:t>PAGE 03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858000" y="6080760"/>
            <a:ext cx="46021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0A1628"/>
                </a:solidFill>
                <a:latin typeface="JetBrains Mono"/>
              </a:rPr>
              <a:t>TEAM OFFGRID — PROJECT SUTRA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SUTRA Pitch Deck</dc:title>
  <dc:subject/>
  <dc:creator>Team Offgrid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