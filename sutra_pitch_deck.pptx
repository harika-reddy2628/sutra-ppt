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png"/><Relationship Id="rId5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02920"/>
            <a:ext cx="320040" cy="320040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5669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9090B"/>
                </a:solidFill>
                <a:latin typeface="Space Grotesk"/>
              </a:rPr>
              <a:t>TEAM OFFGRID  /  DEFENSE &amp; DISASTER ROBOTICS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530352"/>
            <a:ext cx="16459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621792"/>
            <a:ext cx="73152" cy="73152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585216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475569"/>
                </a:solidFill>
                <a:latin typeface="Space Grotesk"/>
              </a:rPr>
              <a:t>AUTONOMOUS SWARM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56692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 i="0">
                <a:solidFill>
                  <a:srgbClr val="64748B"/>
                </a:solidFill>
                <a:latin typeface="JetBrains Mono"/>
              </a:rPr>
              <a:t>AUG 2026 • REV 1.0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14173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i="1">
                <a:solidFill>
                  <a:srgbClr val="09090B"/>
                </a:solidFill>
                <a:latin typeface="Georgia"/>
              </a:rPr>
              <a:t>“When GPS fails and RF links jam, SUTRA geonavigates and locates survivors in real-time.”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1874519"/>
            <a:ext cx="320040" cy="18288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1874519"/>
            <a:ext cx="18288" cy="320040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0" y="3429000"/>
            <a:ext cx="320040" cy="18288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788152" y="3127248"/>
            <a:ext cx="18288" cy="320040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1874519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 i="0">
                <a:solidFill>
                  <a:srgbClr val="09090B"/>
                </a:solidFill>
                <a:latin typeface="Space Grotesk"/>
              </a:rPr>
              <a:t>PROJECT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256032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0" i="1">
                <a:solidFill>
                  <a:srgbClr val="475569"/>
                </a:solidFill>
                <a:latin typeface="Space Grotesk"/>
              </a:rPr>
              <a:t>SUTRA.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3364992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Inter"/>
              </a:rPr>
              <a:t>Swarm Unified Tactical Reconnaissance Architecture — decentralized multi-UAV flight, Deep JSCC neural zero-cliff video, and 3.59cm terrain-corrected DEM survivor geolocation.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7744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01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41248" y="4023360"/>
            <a:ext cx="1188720" cy="182880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Space Grotesk"/>
              </a:rPr>
              <a:t>DECENTRALIZED GNC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9090B"/>
                </a:solidFill>
                <a:latin typeface="Space Grotesk"/>
              </a:rPr>
              <a:t>50Hz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Space Grotesk"/>
              </a:rPr>
              <a:t>Offboard Rate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124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PX4 MicroXRCE + VIO EKF2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38328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93008" y="4023360"/>
            <a:ext cx="1188720" cy="18288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49300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Space Grotesk"/>
              </a:rPr>
              <a:t>SEMANTIC WIRELESS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9300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9090B"/>
                </a:solidFill>
                <a:latin typeface="Space Grotesk"/>
              </a:rPr>
              <a:t>-5dB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8056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Space Grotesk"/>
              </a:rPr>
              <a:t>Jam Resilience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Deep JSCC Zero-Cliff Video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03504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68096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03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44768" y="4023360"/>
            <a:ext cx="1188720" cy="18288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4476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Space Grotesk"/>
              </a:rPr>
              <a:t>AI VISION &amp; GEO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4476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9090B"/>
                </a:solidFill>
                <a:latin typeface="Space Grotesk"/>
              </a:rPr>
              <a:t>3.59cm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Space Grotesk"/>
              </a:rPr>
              <a:t>Slope Precision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4476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Thermal AI + 3D Terrain Raycast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5166360"/>
            <a:ext cx="10728655" cy="13716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5257800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94A3B8"/>
                </a:solidFill>
                <a:latin typeface="Space Grotesk"/>
              </a:rPr>
              <a:t>CORE ARCHITECTURE TEAM (OFFGRID)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0" y="5257800"/>
            <a:ext cx="460217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475569"/>
                </a:solidFill>
                <a:latin typeface="Space Grotesk"/>
              </a:rPr>
              <a:t>RESEARCH-BACKED &amp; EMPIRICALLY VALIDATED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1520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1248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Harika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1248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Operations Lead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41248" y="6080760"/>
            <a:ext cx="1097280" cy="201168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1248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Space Grotesk"/>
              </a:rPr>
              <a:t>PRESENTER · OPS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907792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17520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Vedanth Sai Ram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17520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AI &amp; Vision Lead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017520" y="6080760"/>
            <a:ext cx="1097280" cy="201168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017520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Space Grotesk"/>
              </a:rPr>
              <a:t>PRESENTER · VISION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084064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193792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Nikhil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93792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Tech Lead · Swarm Architect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193792" y="6080760"/>
            <a:ext cx="1097280" cy="201168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193792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Space Grotesk"/>
              </a:rPr>
              <a:t>PRESENTER · GNC/COMMS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260336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70064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Siva Kesava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70064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D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370064" y="6080760"/>
            <a:ext cx="1097280" cy="201168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370064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Space Grotesk"/>
              </a:rPr>
              <a:t>3D GIS GCS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436608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546336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9090B"/>
                </a:solidFill>
                <a:latin typeface="Space Grotesk"/>
              </a:rPr>
              <a:t>Rohith Kumar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546336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F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546336" y="6080760"/>
            <a:ext cx="1097280" cy="201168"/>
          </a:xfrm>
          <a:prstGeom prst="round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546336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Space Grotesk"/>
              </a:rPr>
              <a:t>FIELD CONOPS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438912"/>
            <a:ext cx="73152" cy="274320"/>
          </a:xfrm>
          <a:prstGeom prst="round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7824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JetBrains Mono"/>
              </a:rPr>
              <a:t>THE PROBLEM — 4 SUBSYSTEM FAILURE VOIDS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438912"/>
            <a:ext cx="2468880" cy="27432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530352"/>
            <a:ext cx="73152" cy="73152"/>
          </a:xfrm>
          <a:prstGeom prst="ellipse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475488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 i="0">
                <a:solidFill>
                  <a:srgbClr val="E11D48"/>
                </a:solidFill>
                <a:latin typeface="JetBrains Mono"/>
              </a:rPr>
              <a:t>FIELD DISASTER AUDIT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868680"/>
            <a:ext cx="6858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100" b="1" i="0">
                <a:solidFill>
                  <a:srgbClr val="09090B"/>
                </a:solidFill>
                <a:latin typeface="Space Grotesk"/>
              </a:rPr>
              <a:t>Traditional Search &amp; Rescue Collapses Across 4 Critical Voids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89520" y="960120"/>
            <a:ext cx="960120" cy="27432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8952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E11D48"/>
                </a:solidFill>
                <a:latin typeface="JetBrains Mono"/>
              </a:rPr>
              <a:t>70% CANOPY CRASHES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595360" y="960120"/>
            <a:ext cx="9601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9536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475569"/>
                </a:solidFill>
                <a:latin typeface="JetBrains Mono"/>
              </a:rPr>
              <a:t>15-30m GEO ERROR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601200" y="960120"/>
            <a:ext cx="9601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0120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475569"/>
                </a:solidFill>
                <a:latin typeface="JetBrains Mono"/>
              </a:rPr>
              <a:t>2-3 HOURS DELAY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607040" y="960120"/>
            <a:ext cx="960120" cy="27432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0704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E11D48"/>
                </a:solidFill>
                <a:latin typeface="JetBrains Mono"/>
              </a:rPr>
              <a:t>₹40L+ AIRFRAMES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gps_canopy_shad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609344"/>
            <a:ext cx="2395728" cy="868680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804672" y="2267712"/>
            <a:ext cx="2395728" cy="210312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" y="2286000"/>
            <a:ext cx="23225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FFFFFF"/>
                </a:solidFill>
                <a:latin typeface="JetBrains Mono"/>
              </a:rPr>
              <a:t>Wayanad Canopy Crash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2542032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1" i="0">
                <a:solidFill>
                  <a:srgbClr val="94A3B8"/>
                </a:solidFill>
                <a:latin typeface="JetBrains Mono"/>
              </a:rPr>
              <a:t>SUBSYSTEM A // GNC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057400" y="2523744"/>
            <a:ext cx="1097280" cy="18288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057400" y="254203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80" b="1" i="0">
                <a:solidFill>
                  <a:srgbClr val="E11D48"/>
                </a:solidFill>
                <a:latin typeface="JetBrains Mono"/>
              </a:rPr>
              <a:t>GPS MULTI-PATH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1248" y="2743200"/>
            <a:ext cx="232257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9090B"/>
                </a:solidFill>
                <a:latin typeface="Space Grotesk"/>
              </a:rPr>
              <a:t>Canopy GPS Drift &amp; Crashes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22960" y="3136392"/>
            <a:ext cx="2359152" cy="5486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9536" y="3163824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1" i="0">
                <a:solidFill>
                  <a:srgbClr val="E11D48"/>
                </a:solidFill>
                <a:latin typeface="JetBrains Mono"/>
              </a:rPr>
              <a:t>CORE FAILURE MECHANISM: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9536" y="3310128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80" b="1" i="0">
                <a:solidFill>
                  <a:srgbClr val="09090B"/>
                </a:solidFill>
                <a:latin typeface="Inter"/>
              </a:rPr>
              <a:t>Dense foliage blocks satellite GNSS signals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22960" y="3730752"/>
            <a:ext cx="2359152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59536" y="3767328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09090B"/>
                </a:solidFill>
                <a:latin typeface="JetBrains Mono"/>
              </a:rPr>
              <a:t>OPERATIONAL IMPACT: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9536" y="393192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475569"/>
                </a:solidFill>
                <a:latin typeface="JetBrains Mono"/>
              </a:rPr>
              <a:t>Commercial drones lose position lock, drifting into tree canopies and causing rotor loss.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22960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2960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E11D48"/>
                </a:solidFill>
                <a:latin typeface="JetBrains Mono"/>
              </a:rPr>
              <a:t>70% Loss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2960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Canopy Sorties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039112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039112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09090B"/>
                </a:solidFill>
                <a:latin typeface="JetBrains Mono"/>
              </a:rPr>
              <a:t>0 Hold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039112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Non-GPS Stability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2960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0" i="0">
                <a:solidFill>
                  <a:srgbClr val="64748B"/>
                </a:solidFill>
                <a:latin typeface="JetBrains Mono"/>
              </a:rPr>
              <a:t>TARGET: PX4 &amp; 3D ORCA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65960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550" b="1" i="0">
                <a:solidFill>
                  <a:srgbClr val="E11D48"/>
                </a:solidFill>
                <a:latin typeface="JetBrains Mono"/>
              </a:rPr>
              <a:t>LEAD: NIKHIL</a:t>
            </a:r>
          </a:p>
        </p:txBody>
      </p:sp>
      <p:sp>
        <p:nvSpPr>
          <p:cNvPr id="78" name="Rectangle 77"/>
          <p:cNvSpPr/>
          <p:nvPr/>
        </p:nvSpPr>
        <p:spPr>
          <a:xfrm>
            <a:off x="731520" y="5477255"/>
            <a:ext cx="2542032" cy="3657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3456432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0" name="Picture 79" descr="rf_mountain_shad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9584" y="1609344"/>
            <a:ext cx="2395728" cy="868680"/>
          </a:xfrm>
          <a:prstGeom prst="rect">
            <a:avLst/>
          </a:prstGeom>
        </p:spPr>
      </p:pic>
      <p:sp>
        <p:nvSpPr>
          <p:cNvPr id="81" name="Rectangle 80"/>
          <p:cNvSpPr/>
          <p:nvPr/>
        </p:nvSpPr>
        <p:spPr>
          <a:xfrm>
            <a:off x="3529584" y="2267712"/>
            <a:ext cx="2395728" cy="210312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566160" y="2286000"/>
            <a:ext cx="23225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FFFFFF"/>
                </a:solidFill>
                <a:latin typeface="JetBrains Mono"/>
              </a:rPr>
              <a:t>Chamoli Gorge RF Cut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566160" y="2542032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1" i="0">
                <a:solidFill>
                  <a:srgbClr val="94A3B8"/>
                </a:solidFill>
                <a:latin typeface="JetBrains Mono"/>
              </a:rPr>
              <a:t>SUBSYSTEM B // COMMS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782312" y="2523744"/>
            <a:ext cx="1097280" cy="18288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782312" y="254203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80" b="1" i="0">
                <a:solidFill>
                  <a:srgbClr val="E11D48"/>
                </a:solidFill>
                <a:latin typeface="JetBrains Mono"/>
              </a:rPr>
              <a:t>DIGITAL CLIFF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566160" y="2743200"/>
            <a:ext cx="232257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9090B"/>
                </a:solidFill>
                <a:latin typeface="Space Grotesk"/>
              </a:rPr>
              <a:t>Mountain Ravine RF Blackout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547872" y="3136392"/>
            <a:ext cx="2359152" cy="5486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584448" y="3163824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1" i="0">
                <a:solidFill>
                  <a:srgbClr val="E11D48"/>
                </a:solidFill>
                <a:latin typeface="JetBrains Mono"/>
              </a:rPr>
              <a:t>CORE FAILURE MECHANISM: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584448" y="3310128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80" b="1" i="0">
                <a:solidFill>
                  <a:srgbClr val="09090B"/>
                </a:solidFill>
                <a:latin typeface="Inter"/>
              </a:rPr>
              <a:t>Ridgelines sever direct line-of-sight RF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547872" y="3730752"/>
            <a:ext cx="2359152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584448" y="3767328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09090B"/>
                </a:solidFill>
                <a:latin typeface="JetBrains Mono"/>
              </a:rPr>
              <a:t>OPERATIONAL IMPACT: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584448" y="393192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475569"/>
                </a:solidFill>
                <a:latin typeface="JetBrains Mono"/>
              </a:rPr>
              <a:t>Conventional H.264 digital video completely cuts out below 5dB SNR, causing total blindness.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547872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547872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E11D48"/>
                </a:solidFill>
                <a:latin typeface="JetBrains Mono"/>
              </a:rPr>
              <a:t>&lt;5dB SNR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547872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Video Blackout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4764024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764024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09090B"/>
                </a:solidFill>
                <a:latin typeface="JetBrains Mono"/>
              </a:rPr>
              <a:t>0 Relay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764024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Single-Drone Link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547872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0" i="0">
                <a:solidFill>
                  <a:srgbClr val="64748B"/>
                </a:solidFill>
                <a:latin typeface="JetBrains Mono"/>
              </a:rPr>
              <a:t>TARGET: DEEP JSCC MESH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690872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550" b="1" i="0">
                <a:solidFill>
                  <a:srgbClr val="E11D48"/>
                </a:solidFill>
                <a:latin typeface="JetBrains Mono"/>
              </a:rPr>
              <a:t>LEAD: NIKHIL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456432" y="5477255"/>
            <a:ext cx="2542032" cy="3657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6181344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disaster_rescue_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4496" y="1609344"/>
            <a:ext cx="2395728" cy="868680"/>
          </a:xfrm>
          <a:prstGeom prst="rect">
            <a:avLst/>
          </a:prstGeom>
        </p:spPr>
      </p:pic>
      <p:sp>
        <p:nvSpPr>
          <p:cNvPr id="104" name="Rectangle 103"/>
          <p:cNvSpPr/>
          <p:nvPr/>
        </p:nvSpPr>
        <p:spPr>
          <a:xfrm>
            <a:off x="6254496" y="2267712"/>
            <a:ext cx="2395728" cy="210312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291072" y="2286000"/>
            <a:ext cx="23225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FFFFFF"/>
                </a:solidFill>
                <a:latin typeface="JetBrains Mono"/>
              </a:rPr>
              <a:t>Sikkim Slope Geo Error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291072" y="2542032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1" i="0">
                <a:solidFill>
                  <a:srgbClr val="94A3B8"/>
                </a:solidFill>
                <a:latin typeface="JetBrains Mono"/>
              </a:rPr>
              <a:t>SUBSYSTEM C // VISION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7507224" y="2523744"/>
            <a:ext cx="1097280" cy="18288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507224" y="254203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80" b="1" i="0">
                <a:solidFill>
                  <a:srgbClr val="E11D48"/>
                </a:solidFill>
                <a:latin typeface="JetBrains Mono"/>
              </a:rPr>
              <a:t>35% FALSE ALARM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91072" y="2743200"/>
            <a:ext cx="232257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9090B"/>
                </a:solidFill>
                <a:latin typeface="Space Grotesk"/>
              </a:rPr>
              <a:t>Smoke Blindspots &amp; Slope Drift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272784" y="3136392"/>
            <a:ext cx="2359152" cy="5486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309360" y="3163824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1" i="0">
                <a:solidFill>
                  <a:srgbClr val="E11D48"/>
                </a:solidFill>
                <a:latin typeface="JetBrains Mono"/>
              </a:rPr>
              <a:t>CORE FAILURE MECHANISM: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309360" y="3310128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80" b="1" i="0">
                <a:solidFill>
                  <a:srgbClr val="09090B"/>
                </a:solidFill>
                <a:latin typeface="Inter"/>
              </a:rPr>
              <a:t>2D cameras miss survivors in smoke and assume flat terrain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272784" y="3730752"/>
            <a:ext cx="2359152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309360" y="3767328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09090B"/>
                </a:solidFill>
                <a:latin typeface="JetBrains Mono"/>
              </a:rPr>
              <a:t>OPERATIONAL IMPACT: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309360" y="393192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475569"/>
                </a:solidFill>
                <a:latin typeface="JetBrains Mono"/>
              </a:rPr>
              <a:t>Smoke &amp; mud blind optical cameras; 45° slopes cause 15–30m GPS coordinate errors.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272784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272784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E11D48"/>
                </a:solidFill>
                <a:latin typeface="JetBrains Mono"/>
              </a:rPr>
              <a:t>15–30m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272784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Slope Geo Error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7488936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7488936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09090B"/>
                </a:solidFill>
                <a:latin typeface="JetBrains Mono"/>
              </a:rPr>
              <a:t>35%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488936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False Alarm Rate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272784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0" i="0">
                <a:solidFill>
                  <a:srgbClr val="64748B"/>
                </a:solidFill>
                <a:latin typeface="JetBrains Mono"/>
              </a:rPr>
              <a:t>TARGET: THERMAL + 3D DEM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15784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550" b="1" i="0">
                <a:solidFill>
                  <a:srgbClr val="E11D48"/>
                </a:solidFill>
                <a:latin typeface="JetBrains Mono"/>
              </a:rPr>
              <a:t>LEAD: VEDANTH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81344" y="5477255"/>
            <a:ext cx="2542032" cy="3657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8906256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6" name="Picture 125" descr="single_link_los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08" y="1609344"/>
            <a:ext cx="2395728" cy="868680"/>
          </a:xfrm>
          <a:prstGeom prst="rect">
            <a:avLst/>
          </a:prstGeom>
        </p:spPr>
      </p:pic>
      <p:sp>
        <p:nvSpPr>
          <p:cNvPr id="127" name="Rectangle 126"/>
          <p:cNvSpPr/>
          <p:nvPr/>
        </p:nvSpPr>
        <p:spPr>
          <a:xfrm>
            <a:off x="8979408" y="2267712"/>
            <a:ext cx="2395728" cy="210312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015984" y="2286000"/>
            <a:ext cx="23225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FFFFFF"/>
                </a:solidFill>
                <a:latin typeface="JetBrains Mono"/>
              </a:rPr>
              <a:t>Central Link Abort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015984" y="2542032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1" i="0">
                <a:solidFill>
                  <a:srgbClr val="94A3B8"/>
                </a:solidFill>
                <a:latin typeface="JetBrains Mono"/>
              </a:rPr>
              <a:t>SUBSYSTEM D // C2 GCS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0232136" y="2523744"/>
            <a:ext cx="1097280" cy="182880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FECD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232136" y="2542032"/>
            <a:ext cx="109728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80" b="1" i="0">
                <a:solidFill>
                  <a:srgbClr val="E11D48"/>
                </a:solidFill>
                <a:latin typeface="JetBrains Mono"/>
              </a:rPr>
              <a:t>15-25 CREW LOAD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015984" y="2743200"/>
            <a:ext cx="232257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9090B"/>
                </a:solidFill>
                <a:latin typeface="Space Grotesk"/>
              </a:rPr>
              <a:t>Central Pilot Bottleneck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8997696" y="3136392"/>
            <a:ext cx="2359152" cy="5486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034272" y="3163824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1" i="0">
                <a:solidFill>
                  <a:srgbClr val="E11D48"/>
                </a:solidFill>
                <a:latin typeface="JetBrains Mono"/>
              </a:rPr>
              <a:t>CORE FAILURE MECHANISM: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034272" y="3310128"/>
            <a:ext cx="22860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80" b="1" i="0">
                <a:solidFill>
                  <a:srgbClr val="09090B"/>
                </a:solidFill>
                <a:latin typeface="Inter"/>
              </a:rPr>
              <a:t>1-pilot-per-drone manual radio control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8997696" y="3730752"/>
            <a:ext cx="2359152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034272" y="3767328"/>
            <a:ext cx="228600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80" b="1" i="0">
                <a:solidFill>
                  <a:srgbClr val="09090B"/>
                </a:solidFill>
                <a:latin typeface="JetBrains Mono"/>
              </a:rPr>
              <a:t>OPERATIONAL IMPACT: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034272" y="393192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475569"/>
                </a:solidFill>
                <a:latin typeface="JetBrains Mono"/>
              </a:rPr>
              <a:t>Requires 15–25 personnel and 45–90 min setup; sortie aborts if the single pilot link drops.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997696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997696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E11D48"/>
                </a:solidFill>
                <a:latin typeface="JetBrains Mono"/>
              </a:rPr>
              <a:t>2–3 Hrs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997696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Search Time / mi²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0213848" y="4663440"/>
            <a:ext cx="1143000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213848" y="469087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09090B"/>
                </a:solidFill>
                <a:latin typeface="JetBrains Mono"/>
              </a:rPr>
              <a:t>₹12.5L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13848" y="4901184"/>
            <a:ext cx="114300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550" b="0" i="0">
                <a:solidFill>
                  <a:srgbClr val="64748B"/>
                </a:solidFill>
                <a:latin typeface="JetBrains Mono"/>
              </a:rPr>
              <a:t>Cost / Deployment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8997696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50" b="0" i="0">
                <a:solidFill>
                  <a:srgbClr val="64748B"/>
                </a:solidFill>
                <a:latin typeface="JetBrains Mono"/>
              </a:rPr>
              <a:t>TARGET: WEBGPU ATAK GCS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140696" y="5157216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550" b="1" i="0">
                <a:solidFill>
                  <a:srgbClr val="E11D48"/>
                </a:solidFill>
                <a:latin typeface="JetBrains Mono"/>
              </a:rPr>
              <a:t>LEAD: SIVA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906256" y="5477255"/>
            <a:ext cx="2542032" cy="36576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731520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822960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FIELD EVIDENCE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9090B"/>
                </a:solidFill>
                <a:latin typeface="JetBrains Mono"/>
              </a:rPr>
              <a:t>Wayanad Landslide Audit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3456432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547872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AUDIT FINDING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4553712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E11D48"/>
                </a:solidFill>
                <a:latin typeface="JetBrains Mono"/>
              </a:rPr>
              <a:t>70% RF/GPS Disconnect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6181344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272784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COST PENALTY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278624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9090B"/>
                </a:solidFill>
                <a:latin typeface="JetBrains Mono"/>
              </a:rPr>
              <a:t>₹40L Military Airframes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8906256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8997696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SURVIVOR RISK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0003536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E11D48"/>
                </a:solidFill>
                <a:latin typeface="JetBrains Mono"/>
              </a:rPr>
              <a:t>412% Disaster Surge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731520" y="6172200"/>
            <a:ext cx="10728655" cy="13716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31520" y="62636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JetBrains Mono"/>
              </a:rPr>
              <a:t>PAGE 02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0" y="6263640"/>
            <a:ext cx="46021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0A1628"/>
                </a:solidFill>
                <a:latin typeface="JetBrains Mono"/>
              </a:rPr>
              <a:t>TEAM OFFGRID — PROJECT SUTRA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438912"/>
            <a:ext cx="73152" cy="274320"/>
          </a:xfrm>
          <a:prstGeom prst="round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7824" y="45720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JetBrains Mono"/>
              </a:rPr>
              <a:t>THE SOLUTION — 4 CORE SUBSYSTEM MOATS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438912"/>
            <a:ext cx="246888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530352"/>
            <a:ext cx="73152" cy="73152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475488"/>
            <a:ext cx="21031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 i="0">
                <a:solidFill>
                  <a:srgbClr val="047857"/>
                </a:solidFill>
                <a:latin typeface="JetBrains Mono"/>
              </a:rPr>
              <a:t>SWARM ARCHITECTURE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868680"/>
            <a:ext cx="6858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100" b="1" i="0">
                <a:solidFill>
                  <a:srgbClr val="09090B"/>
                </a:solidFill>
                <a:latin typeface="Space Grotesk"/>
              </a:rPr>
              <a:t>AI Swarm Drones Find Survivors 3-4x Faster Than Traditional SAR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589520" y="960120"/>
            <a:ext cx="9601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8952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475569"/>
                </a:solidFill>
                <a:latin typeface="JetBrains Mono"/>
              </a:rPr>
              <a:t>10-18 MIN/MI²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595360" y="960120"/>
            <a:ext cx="96012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9536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047857"/>
                </a:solidFill>
                <a:latin typeface="JetBrains Mono"/>
              </a:rPr>
              <a:t>78-85% DETECTION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601200" y="960120"/>
            <a:ext cx="9601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0120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475569"/>
                </a:solidFill>
                <a:latin typeface="JetBrains Mono"/>
              </a:rPr>
              <a:t>12% FALSE ALARMS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607040" y="960120"/>
            <a:ext cx="960120" cy="2743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07040" y="1005840"/>
            <a:ext cx="9601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1" i="0">
                <a:solidFill>
                  <a:srgbClr val="047857"/>
                </a:solidFill>
                <a:latin typeface="JetBrains Mono"/>
              </a:rPr>
              <a:t>₹95,000 SORTIE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A // GNC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057400" y="1627632"/>
            <a:ext cx="1097280" cy="2011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057400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047857"/>
                </a:solidFill>
                <a:latin typeface="JetBrains Mono"/>
              </a:rPr>
              <a:t>50Hz OFFBOARD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SUTRA-FSD GNC &amp; 3D ORCA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41248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96112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E11D48"/>
                </a:solidFill>
                <a:latin typeface="JetBrains Mono"/>
              </a:rPr>
              <a:t>SOLVES PROBLEM VOID: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96112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Canopy GPS Multi-Path Drift &amp; Crashes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41248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96112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47857"/>
                </a:solidFill>
                <a:latin typeface="JetBrains Mono"/>
              </a:rPr>
              <a:t>SOLUTIONAL MOAT: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6112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Decentralized 3D velocity obstacle collision avoidance + PX4 MicroXRCE 50Hz offboard setpoint streaming.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41248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41248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0.05s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1248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Latency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048256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048256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47857"/>
                </a:solidFill>
                <a:latin typeface="JetBrains Mono"/>
              </a:rPr>
              <a:t>0 Tower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048256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Reliance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41248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DECENTRALIZED VIO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65960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09090B"/>
                </a:solidFill>
                <a:latin typeface="JetBrains Mono"/>
              </a:rPr>
              <a:t>50Hz RATE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520" y="5477255"/>
            <a:ext cx="2542032" cy="36576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3456432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566160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B // COMMS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782312" y="1627632"/>
            <a:ext cx="1097280" cy="2011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82312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047857"/>
                </a:solidFill>
                <a:latin typeface="JetBrains Mono"/>
              </a:rPr>
              <a:t>-5dB RESILIENT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566160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Deep JSCC Neural Video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566160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621024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E11D48"/>
                </a:solidFill>
                <a:latin typeface="JetBrains Mono"/>
              </a:rPr>
              <a:t>SOLVES PROBLEM VOID: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21024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Mountain Ravine RF Ridge Blackout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566160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621024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47857"/>
                </a:solidFill>
                <a:latin typeface="JetBrains Mono"/>
              </a:rPr>
              <a:t>SOLUTIONAL MOAT: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21024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Differentiable joint source-channel coding yielding zero digital cliff and graceful video degradation down to -5dB.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566160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566160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-5dB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566160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SNR Thresh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4773168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4773168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47857"/>
                </a:solidFill>
                <a:latin typeface="JetBrains Mono"/>
              </a:rPr>
              <a:t>0 Cliff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773168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Degradation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566160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SEMANTIC COMMS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690872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09090B"/>
                </a:solidFill>
                <a:latin typeface="JetBrains Mono"/>
              </a:rPr>
              <a:t>EDGE TPU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456432" y="5477255"/>
            <a:ext cx="2542032" cy="36576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6181344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291072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C // VISION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507224" y="1627632"/>
            <a:ext cx="1097280" cy="2011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07224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047857"/>
                </a:solidFill>
                <a:latin typeface="JetBrains Mono"/>
              </a:rPr>
              <a:t>3.59cm RESIDUAL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91072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Thermal &amp; 3D AI Geolocation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291072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345936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E11D48"/>
                </a:solidFill>
                <a:latin typeface="JetBrains Mono"/>
              </a:rPr>
              <a:t>SOLVES PROBLEM VOID: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345936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Smoke Blindspots &amp; 15-30m Slope Drift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6291072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45936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47857"/>
                </a:solidFill>
                <a:latin typeface="JetBrains Mono"/>
              </a:rPr>
              <a:t>SOLUTIONAL MOAT: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45936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Fuses thermal body heat + optical AI with 3D elevation raycasting on Jetson Orin (&lt;15ms), giving rescue teams exact coordinates on steep slopes.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6291072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291072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&lt;15ms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91072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Inference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7498080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498080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47857"/>
                </a:solidFill>
                <a:latin typeface="JetBrains Mono"/>
              </a:rPr>
              <a:t>3.59cm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498080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Raycast Error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291072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SLOPE CORRECTED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415784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09090B"/>
                </a:solidFill>
                <a:latin typeface="JetBrains Mono"/>
              </a:rPr>
              <a:t>JETSON ORIN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181344" y="5477255"/>
            <a:ext cx="2542032" cy="36576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8906256" y="1536192"/>
            <a:ext cx="2542032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015984" y="164592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1" i="0">
                <a:solidFill>
                  <a:srgbClr val="94A3B8"/>
                </a:solidFill>
                <a:latin typeface="JetBrains Mono"/>
              </a:rPr>
              <a:t>SUBSYSTEM D // C2 GCS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0232136" y="1627632"/>
            <a:ext cx="1097280" cy="20116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0232136" y="164592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50" b="1" i="0">
                <a:solidFill>
                  <a:srgbClr val="047857"/>
                </a:solidFill>
                <a:latin typeface="JetBrains Mono"/>
              </a:rPr>
              <a:t>1-2 OPERATORS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015984" y="1883664"/>
            <a:ext cx="23225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09090B"/>
                </a:solidFill>
                <a:latin typeface="Space Grotesk"/>
              </a:rPr>
              <a:t>Pegasus 3D WebGPU GCS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9015984" y="2359152"/>
            <a:ext cx="2322576" cy="59436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ECD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070848" y="2395728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1" i="0">
                <a:solidFill>
                  <a:srgbClr val="E11D48"/>
                </a:solidFill>
                <a:latin typeface="JetBrains Mono"/>
              </a:rPr>
              <a:t>SOLVES PROBLEM VOID: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070848" y="2560320"/>
            <a:ext cx="221284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9090B"/>
                </a:solidFill>
                <a:latin typeface="Inter"/>
              </a:rPr>
              <a:t>15-25 Ground Crew Cognitive Overload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9015984" y="3044952"/>
            <a:ext cx="2322576" cy="1325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070848" y="3090672"/>
            <a:ext cx="2212848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47857"/>
                </a:solidFill>
                <a:latin typeface="JetBrains Mono"/>
              </a:rPr>
              <a:t>SOLUTIONAL MOAT: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070848" y="3291840"/>
            <a:ext cx="2212848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20" b="0" i="0">
                <a:solidFill>
                  <a:srgbClr val="475569"/>
                </a:solidFill>
                <a:latin typeface="JetBrains Mono"/>
              </a:rPr>
              <a:t>Offline tactical 3D digital twin + ATAK plugin, empowering 1-2 operators to orchestrate full drone swarms.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9015984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015984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9090B"/>
                </a:solidFill>
                <a:latin typeface="JetBrains Mono"/>
              </a:rPr>
              <a:t>1-2 Ops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015984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Crew Size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10222992" y="4462272"/>
            <a:ext cx="1115568" cy="502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222992" y="4498848"/>
            <a:ext cx="111556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1" i="0">
                <a:solidFill>
                  <a:srgbClr val="047857"/>
                </a:solidFill>
                <a:latin typeface="JetBrains Mono"/>
              </a:rPr>
              <a:t>100%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222992" y="4754880"/>
            <a:ext cx="1115568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00" b="0" i="0">
                <a:solidFill>
                  <a:srgbClr val="64748B"/>
                </a:solidFill>
                <a:latin typeface="JetBrains Mono"/>
              </a:rPr>
              <a:t>Offline ATAK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015984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00" b="0" i="0">
                <a:solidFill>
                  <a:srgbClr val="64748B"/>
                </a:solidFill>
                <a:latin typeface="JetBrains Mono"/>
              </a:rPr>
              <a:t>ATAK INTEGRATION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0140696" y="5102352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600" b="1" i="0">
                <a:solidFill>
                  <a:srgbClr val="09090B"/>
                </a:solidFill>
                <a:latin typeface="JetBrains Mono"/>
              </a:rPr>
              <a:t>WEBGPU 3D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8906256" y="5477255"/>
            <a:ext cx="2542032" cy="36576"/>
          </a:xfrm>
          <a:prstGeom prst="rect">
            <a:avLst/>
          </a:prstGeom>
          <a:solidFill>
            <a:srgbClr val="090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ounded Rectangle 135"/>
          <p:cNvSpPr/>
          <p:nvPr/>
        </p:nvSpPr>
        <p:spPr>
          <a:xfrm>
            <a:off x="731520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22960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TAM PROJECTION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828800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9090B"/>
                </a:solidFill>
                <a:latin typeface="JetBrains Mono"/>
              </a:rPr>
              <a:t>₹74,500 Cr Market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3456432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547872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DEMAND DELTA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4553712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47857"/>
                </a:solidFill>
                <a:latin typeface="JetBrains Mono"/>
              </a:rPr>
              <a:t>+412% Surge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6181344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6272784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REGULATORY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7278624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9090B"/>
                </a:solidFill>
                <a:latin typeface="JetBrains Mono"/>
              </a:rPr>
              <a:t>37 Nations Mandate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8906256" y="5623560"/>
            <a:ext cx="2542032" cy="438912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4E4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8997696" y="568756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0" i="0">
                <a:solidFill>
                  <a:srgbClr val="64748B"/>
                </a:solidFill>
                <a:latin typeface="JetBrains Mono"/>
              </a:rPr>
              <a:t>NDMA / SDRF GRANTS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003536" y="5669280"/>
            <a:ext cx="13258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047857"/>
                </a:solidFill>
                <a:latin typeface="JetBrains Mono"/>
              </a:rPr>
              <a:t>₹1,500 Cr Allocation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31520" y="6172200"/>
            <a:ext cx="10728655" cy="13716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31520" y="626364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JetBrains Mono"/>
              </a:rPr>
              <a:t>PAGE 03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6858000" y="6263640"/>
            <a:ext cx="46021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0A1628"/>
                </a:solidFill>
                <a:latin typeface="JetBrains Mono"/>
              </a:rPr>
              <a:t>TEAM OFFGRID — PROJECT SUTRA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Pitch Deck</dc:title>
  <dc:subject/>
  <dc:creator>Team Offgrid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