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288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60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860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860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860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432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432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432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432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432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432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432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432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004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004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004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2004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2004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004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2004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004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4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004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76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576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76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576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576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576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576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6576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6576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576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148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1148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1148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1148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1148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48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148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1148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148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148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1148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5720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720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5720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720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720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720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720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20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720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720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292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292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0292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292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292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0292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0292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0292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0292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0292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0292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4864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864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4864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4864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4864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4864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864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864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864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4864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4864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9436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436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436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9436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9436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9436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6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9436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9436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9436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9436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4008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4008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4008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008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008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4008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4008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4008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4008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4008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4008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8580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8580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8580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8580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8580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8580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8580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8580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8580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8580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580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3152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3152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3152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3152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3152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3152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3152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3152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3152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3152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3152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772400" y="914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724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724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7724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7724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7724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7724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7724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7724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724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7724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2296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2296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2296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2296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296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296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2296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2296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2296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2296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6868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6868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6868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6868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6868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6868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6868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6868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6868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6868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144000" y="1371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1440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1440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1440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1440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440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1440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1440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1440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144000" y="5486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6012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6012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6012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6012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6012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6012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6012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6012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058400" y="1828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0584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00584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00584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00584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0584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00584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058400" y="5029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515600" y="2286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515600" y="27432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0515600" y="32004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0515600" y="36576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0515600" y="41148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0515600" y="4572000"/>
            <a:ext cx="22860" cy="22860"/>
          </a:xfrm>
          <a:prstGeom prst="ellipse">
            <a:avLst/>
          </a:prstGeom>
          <a:solidFill>
            <a:srgbClr val="DCD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731520" y="548640"/>
            <a:ext cx="320040" cy="320040"/>
          </a:xfrm>
          <a:prstGeom prst="roundRect">
            <a:avLst/>
          </a:prstGeom>
          <a:solidFill>
            <a:srgbClr val="18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143000" y="5943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5A6B63"/>
                </a:solidFill>
                <a:latin typeface="JetBrains Mono"/>
              </a:rPr>
              <a:t>TEAM OFFGRID  •  DEFENSE &amp; DISASTER ROBOTICS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7772400" y="594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 b="1">
                <a:solidFill>
                  <a:srgbClr val="5A6B63"/>
                </a:solidFill>
                <a:latin typeface="JetBrains Mono"/>
              </a:rPr>
              <a:t>August 2026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31520" y="21945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9E4D34"/>
                </a:solidFill>
                <a:latin typeface="JetBrains Mono"/>
              </a:rPr>
              <a:t>AUTONOMOUS MULTI-UAV SWARM ARCHITECTURE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31520" y="2542032"/>
            <a:ext cx="1097280" cy="32004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600" b="1">
                <a:solidFill>
                  <a:srgbClr val="183A2B"/>
                </a:solidFill>
                <a:latin typeface="Plus Jakarta Sans"/>
              </a:rPr>
              <a:t>PROJECT SUTRA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31520" y="39319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5A6B63"/>
                </a:solidFill>
                <a:latin typeface="Plus Jakarta Sans"/>
              </a:rPr>
              <a:t>Swarm Unified Tactical Reconnaissance Architecture for GPS-Denied and Jammed Mountain Environments.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31520" y="5349240"/>
            <a:ext cx="10728655" cy="13716"/>
          </a:xfrm>
          <a:prstGeom prst="rect">
            <a:avLst/>
          </a:prstGeom>
          <a:solidFill>
            <a:srgbClr val="ED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31520" y="54864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9E4D34"/>
                </a:solidFill>
                <a:latin typeface="JetBrains Mono"/>
              </a:rPr>
              <a:t>CORE ARCHITECTURE TEAM (TEAM OFFGRID)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31520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Nikhil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31520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Tech Lead · Subsys A &amp; B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31520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GNC, FSD &amp; Deep JSCC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907792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Vedanth Sai Ram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907792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C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07792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Tri-Modal AI &amp; Geolocation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084064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Siva Kesava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84064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D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84064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3D GIS GCS &amp; WebGPU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260336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Harika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260336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E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260336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Verification &amp; Pitch QA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9436608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Rohith Kumar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436608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B63"/>
                </a:solidFill>
                <a:latin typeface="JetBrains Mono"/>
              </a:rPr>
              <a:t>Lead · Subsystem F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9436608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4A7A58"/>
                </a:solidFill>
                <a:latin typeface="JetBrains Mono"/>
              </a:rPr>
              <a:t>NDMA CONOPS &amp; 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(Team Offgrid)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