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548640"/>
            <a:ext cx="320040" cy="320040"/>
          </a:xfrm>
          <a:prstGeom prst="roundRect">
            <a:avLst/>
          </a:prstGeom>
          <a:solidFill>
            <a:srgbClr val="183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5943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5A6B63"/>
                </a:solidFill>
                <a:latin typeface="JetBrains Mono"/>
              </a:rPr>
              <a:t>TEAM OFFGRID  •  DEFENSE &amp; DISASTER ROBOTICS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59436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50" b="1">
                <a:solidFill>
                  <a:srgbClr val="5A6B63"/>
                </a:solidFill>
                <a:latin typeface="JetBrains Mono"/>
              </a:rPr>
              <a:t>August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9E4D34"/>
                </a:solidFill>
                <a:latin typeface="JetBrains Mono"/>
              </a:rPr>
              <a:t>AUTONOMOUS MULTI-UAV SWARM ARCHITECTURE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542032"/>
            <a:ext cx="1097280" cy="32004"/>
          </a:xfrm>
          <a:prstGeom prst="rect">
            <a:avLst/>
          </a:prstGeom>
          <a:solidFill>
            <a:srgbClr val="9E4D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788920"/>
            <a:ext cx="1005840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600" b="1">
                <a:solidFill>
                  <a:srgbClr val="183A2B"/>
                </a:solidFill>
                <a:latin typeface="Plus Jakarta Sans"/>
              </a:rPr>
              <a:t>PROJECT SUTRA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93192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>
                <a:solidFill>
                  <a:srgbClr val="5A6B63"/>
                </a:solidFill>
                <a:latin typeface="Plus Jakarta Sans"/>
              </a:rPr>
              <a:t>Swarm Unified Tactical Reconnaissance Architecture for GPS-Denied and Jammed Mountain Environments.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5349240"/>
            <a:ext cx="10728655" cy="13716"/>
          </a:xfrm>
          <a:prstGeom prst="rect">
            <a:avLst/>
          </a:prstGeom>
          <a:solidFill>
            <a:srgbClr val="EDE4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48640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9E4D34"/>
                </a:solidFill>
                <a:latin typeface="JetBrains Mono"/>
              </a:rPr>
              <a:t>CORE ARCHITECTURE TEAM (TEAM OFFGRID)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760720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>
                <a:solidFill>
                  <a:srgbClr val="183A2B"/>
                </a:solidFill>
                <a:latin typeface="JetBrains Mono"/>
              </a:rPr>
              <a:t>Nikhil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989320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>
                <a:solidFill>
                  <a:srgbClr val="5A6B63"/>
                </a:solidFill>
                <a:latin typeface="JetBrains Mono"/>
              </a:rPr>
              <a:t>Tech Lead · Subsys A &amp; 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190488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>
                <a:solidFill>
                  <a:srgbClr val="4A7A58"/>
                </a:solidFill>
                <a:latin typeface="JetBrains Mono"/>
              </a:rPr>
              <a:t>GNC, FSD &amp; Deep JSCC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07792" y="5760720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>
                <a:solidFill>
                  <a:srgbClr val="183A2B"/>
                </a:solidFill>
                <a:latin typeface="JetBrains Mono"/>
              </a:rPr>
              <a:t>Vedanth Sai Ram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7792" y="5989320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>
                <a:solidFill>
                  <a:srgbClr val="5A6B63"/>
                </a:solidFill>
                <a:latin typeface="JetBrains Mono"/>
              </a:rPr>
              <a:t>Lead · Subsystem 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07792" y="6190488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>
                <a:solidFill>
                  <a:srgbClr val="4A7A58"/>
                </a:solidFill>
                <a:latin typeface="JetBrains Mono"/>
              </a:rPr>
              <a:t>Tri-Modal AI &amp; Geolocation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84064" y="5760720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>
                <a:solidFill>
                  <a:srgbClr val="183A2B"/>
                </a:solidFill>
                <a:latin typeface="JetBrains Mono"/>
              </a:rPr>
              <a:t>Siva Kesava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064" y="5989320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>
                <a:solidFill>
                  <a:srgbClr val="5A6B63"/>
                </a:solidFill>
                <a:latin typeface="JetBrains Mono"/>
              </a:rPr>
              <a:t>Lead · Subsystem 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84064" y="6190488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>
                <a:solidFill>
                  <a:srgbClr val="4A7A58"/>
                </a:solidFill>
                <a:latin typeface="JetBrains Mono"/>
              </a:rPr>
              <a:t>3D GIS GCS &amp; WebGPU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0336" y="5760720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>
                <a:solidFill>
                  <a:srgbClr val="183A2B"/>
                </a:solidFill>
                <a:latin typeface="JetBrains Mono"/>
              </a:rPr>
              <a:t>Harika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60336" y="5989320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>
                <a:solidFill>
                  <a:srgbClr val="5A6B63"/>
                </a:solidFill>
                <a:latin typeface="JetBrains Mono"/>
              </a:rPr>
              <a:t>Lead · Subsystem 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0336" y="6190488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>
                <a:solidFill>
                  <a:srgbClr val="4A7A58"/>
                </a:solidFill>
                <a:latin typeface="JetBrains Mono"/>
              </a:rPr>
              <a:t>Verification &amp; Pitch QA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36608" y="5760720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>
                <a:solidFill>
                  <a:srgbClr val="183A2B"/>
                </a:solidFill>
                <a:latin typeface="JetBrains Mono"/>
              </a:rPr>
              <a:t>Rohith Kumar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36608" y="5989320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>
                <a:solidFill>
                  <a:srgbClr val="5A6B63"/>
                </a:solidFill>
                <a:latin typeface="JetBrains Mono"/>
              </a:rPr>
              <a:t>Lead · Subsystem 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36608" y="6190488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>
                <a:solidFill>
                  <a:srgbClr val="4A7A58"/>
                </a:solidFill>
                <a:latin typeface="JetBrains Mono"/>
              </a:rPr>
              <a:t>NDMA CONOPS &amp; Ops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SUTRA — Title Slide (Team Offgrid)</dc:title>
  <dc:subject/>
  <dc:creator>Team Offgrid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